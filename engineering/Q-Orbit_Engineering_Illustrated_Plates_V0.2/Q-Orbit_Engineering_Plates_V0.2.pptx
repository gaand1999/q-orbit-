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88f5de8a7848c8" /><Relationship Type="http://schemas.openxmlformats.org/officeDocument/2006/relationships/extended-properties" Target="/docProps/app.xml" Id="R3db9c491e4884669" /><Relationship Type="http://schemas.openxmlformats.org/officeDocument/2006/relationships/officeDocument" Target="/ppt/presentation.xml" Id="R6bc38dbae6cd4e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fdba90729b4a97"/>
  </p:sldMasterIdLst>
  <p:notesMasterIdLst>
    <p:notesMasterId xmlns:r="http://schemas.openxmlformats.org/officeDocument/2006/relationships" r:id="R7172ed7610464411"/>
  </p:notesMasterIdLst>
  <p:sldIdLst>
    <p:sldId xmlns:r="http://schemas.openxmlformats.org/officeDocument/2006/relationships" id="256" r:id="R3a724722a5ea44ee"/>
    <p:sldId xmlns:r="http://schemas.openxmlformats.org/officeDocument/2006/relationships" id="257" r:id="Rc7a48c0222d24350"/>
    <p:sldId xmlns:r="http://schemas.openxmlformats.org/officeDocument/2006/relationships" id="258" r:id="R9af0969ce5504ff6"/>
    <p:sldId xmlns:r="http://schemas.openxmlformats.org/officeDocument/2006/relationships" id="259" r:id="Rdc89a28dc43144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10ed1f0d5c48cb" /><Relationship Type="http://schemas.openxmlformats.org/officeDocument/2006/relationships/slideMaster" Target="/ppt/slideMasters/slideMaster1.xml" Id="R53fdba90729b4a97" /><Relationship Type="http://schemas.openxmlformats.org/officeDocument/2006/relationships/notesMaster" Target="/ppt/notesMasters/notesMaster1.xml" Id="R7172ed7610464411" /><Relationship Type="http://schemas.openxmlformats.org/officeDocument/2006/relationships/presProps" Target="/ppt/presProps.xml" Id="R6f25ac01ee2944ad" /><Relationship Type="http://schemas.openxmlformats.org/officeDocument/2006/relationships/tableStyles" Target="/ppt/tableStyles.xml" Id="R0462a4e3e41749dd" /><Relationship Type="http://schemas.openxmlformats.org/officeDocument/2006/relationships/slide" Target="/ppt/slides/slide1.xml" Id="R3a724722a5ea44ee" /><Relationship Type="http://schemas.openxmlformats.org/officeDocument/2006/relationships/slide" Target="/ppt/slides/slide2.xml" Id="Rc7a48c0222d24350" /><Relationship Type="http://schemas.openxmlformats.org/officeDocument/2006/relationships/slide" Target="/ppt/slides/slide3.xml" Id="R9af0969ce5504ff6" /><Relationship Type="http://schemas.openxmlformats.org/officeDocument/2006/relationships/slide" Target="/ppt/slides/slide4.xml" Id="Rdc89a28dc43144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5b7cfbe76e4e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a6602a5668475d" /><Relationship Type="http://schemas.openxmlformats.org/officeDocument/2006/relationships/notesMaster" Target="/ppt/notesMasters/notesMaster1.xml" Id="Rc1f76b2458b24f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9ac3f5e46648d7" /><Relationship Type="http://schemas.openxmlformats.org/officeDocument/2006/relationships/notesMaster" Target="/ppt/notesMasters/notesMaster1.xml" Id="R26e1800fe08744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7715c2419f4a94" /><Relationship Type="http://schemas.openxmlformats.org/officeDocument/2006/relationships/notesMaster" Target="/ppt/notesMasters/notesMaster1.xml" Id="R5723bc85d13c4e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41067f5f8a4acc" /><Relationship Type="http://schemas.openxmlformats.org/officeDocument/2006/relationships/notesMaster" Target="/ppt/notesMasters/notesMaster1.xml" Id="Rd256b664bdb449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spacecraft terminal plate only.</a:t>
            </a:r>
          </a:p>
          <a:p xmlns:a="http://schemas.openxmlformats.org/drawingml/2006/main">
            <a:r>
              <a:t>The plate identifies required functions; it does not select a flight platform, supplier, mass, power, aperture, divergence, or qualification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Q-Orbit Engineering Design Document V1.0-RC3 (component naming and evidence boundaries)</a:t>
            </a:r>
          </a:p>
          <a:p xmlns:a="http://schemas.openxmlformats.org/drawingml/2006/main">
            <a:r>
              <a:t>- User-provided visual reference: annotated spacecraft or quantum-network technical illustration</a:t>
            </a:r>
          </a:p>
          <a:p xmlns:a="http://schemas.openxmlformats.org/drawingml/2006/main">
            <a:r>
              <a:t>- Q-Orbit generated base illustration V0.2; deterministic labels and boundaries added in this plate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external station plate for the Tabuk study-region concept.</a:t>
            </a:r>
          </a:p>
          <a:p xmlns:a="http://schemas.openxmlformats.org/drawingml/2006/main">
            <a:r>
              <a:t>Parcel, foundation, dimensions, equipment, emissions authority, weather qualification, and laser safety approvals remain unselected or blocked.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Q-Orbit Engineering Design Document V1.0-RC3 (component naming and evidence boundaries)</a:t>
            </a:r>
          </a:p>
          <a:p xmlns:a="http://schemas.openxmlformats.org/drawingml/2006/main">
            <a:r>
              <a:t>- User-provided visual reference: annotated spacecraft or quantum-network technical illustration</a:t>
            </a:r>
          </a:p>
          <a:p xmlns:a="http://schemas.openxmlformats.org/drawingml/2006/main">
            <a:r>
              <a:t>- Q-Orbit generated base illustration V0.2; deterministic labels and boundaries added in this plate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cutaway separates optical transport, detection/time-tagging, processing/evidence, and safety functions.</a:t>
            </a:r>
          </a:p>
          <a:p xmlns:a="http://schemas.openxmlformats.org/drawingml/2006/main">
            <a:r>
              <a:t>The cyan beam trace is illustrative; optical prescription, wavelength, filters, coupling, detectors, calibration, and loss budget remain controlled TBDs.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Q-Orbit Engineering Design Document V1.0-RC3 (component naming and evidence boundaries)</a:t>
            </a:r>
          </a:p>
          <a:p xmlns:a="http://schemas.openxmlformats.org/drawingml/2006/main">
            <a:r>
              <a:t>- User-provided visual reference: annotated spacecraft or quantum-network technical illustration</a:t>
            </a:r>
          </a:p>
          <a:p xmlns:a="http://schemas.openxmlformats.org/drawingml/2006/main">
            <a:r>
              <a:t>- Q-Orbit generated base illustration V0.2; deterministic labels and boundaries added in this plate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visual grammar follows the user-provided network reference: distinct path classes and a bounded system box.</a:t>
            </a:r>
          </a:p>
          <a:p xmlns:a="http://schemas.openxmlformats.org/drawingml/2006/main">
            <a:r>
              <a:t>Q-Orbit does not claim EPR distribution, quantum repeaters, or a validated network controller; the current key state remains quarantined.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Q-Orbit Engineering Design Document V1.0-RC3 (component naming and evidence boundaries)</a:t>
            </a:r>
          </a:p>
          <a:p xmlns:a="http://schemas.openxmlformats.org/drawingml/2006/main">
            <a:r>
              <a:t>- User-provided visual reference: annotated spacecraft or quantum-network technical illustration</a:t>
            </a:r>
          </a:p>
          <a:p xmlns:a="http://schemas.openxmlformats.org/drawingml/2006/main">
            <a:r>
              <a:t>- Q-Orbit generated base illustration V0.2; deterministic labels and boundaries added in this plate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dd029a825c43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86a63fd2484ca1" /><Relationship Type="http://schemas.openxmlformats.org/officeDocument/2006/relationships/slideLayout" Target="/ppt/slideLayouts/slideLayout1.xml" Id="R46cf2dc9520e4d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cf2dc9520e4d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bd0e759c34791" /><Relationship Type="http://schemas.openxmlformats.org/officeDocument/2006/relationships/image" Target="/ppt/media/image.png" Id="R1b2893608d5d4476" /><Relationship Type="http://schemas.openxmlformats.org/officeDocument/2006/relationships/notesSlide" Target="/ppt/notesSlides/notesSlide1.xml" Id="Rb00c027697c249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be9c8ecc44287" /><Relationship Type="http://schemas.openxmlformats.org/officeDocument/2006/relationships/image" Target="/ppt/media/image2.png" Id="Red6c05e8c6394380" /><Relationship Type="http://schemas.openxmlformats.org/officeDocument/2006/relationships/notesSlide" Target="/ppt/notesSlides/notesSlide2.xml" Id="R3b09bd935a9b4c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0c8563b5d4d8f" /><Relationship Type="http://schemas.openxmlformats.org/officeDocument/2006/relationships/image" Target="/ppt/media/image3.png" Id="R4f5b272222184bbe" /><Relationship Type="http://schemas.openxmlformats.org/officeDocument/2006/relationships/notesSlide" Target="/ppt/notesSlides/notesSlide3.xml" Id="R4722e95072a84e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d30ceed344cfd" /><Relationship Type="http://schemas.openxmlformats.org/officeDocument/2006/relationships/notesSlide" Target="/ppt/notesSlides/notesSlide4.xml" Id="Rf68f4e52d0f649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5144FF6-9991-463F-8D3A-6A3E8D97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solidFill>
              <a:srgbClr val="0A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F9D88-1F36-481C-B0D7-DCF28B38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B3"/>
          </a:solidFill>
          <a:ln xmlns:a="http://schemas.openxmlformats.org/drawingml/2006/main" w="0">
            <a:solidFill>
              <a:srgbClr val="009EB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5709A-A61F-4809-8E90-6ECB1DD4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5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DWG-101 · REV 0.2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D2880-4FC5-4CD6-A732-334CE820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62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SPACE TERMINAL · ANNOTATED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4895E-993A-42BC-A39B-1FC78839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52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Q-ORBIT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96F095-559C-4762-9E28-7AB0E5AC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9C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207294-AA8A-49B7-BC16-C8453B1B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534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323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3232"/>
                </a:solidFill>
                <a:latin typeface="Arial"/>
                <a:ea typeface="Arial"/>
                <a:cs typeface="Arial"/>
              </a:rPr>
              <a:t>CONCEPTUAL · PRIVATE · 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1382C-5A01-4E1E-A129-AB78C3C1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534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D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D77"/>
                </a:solidFill>
                <a:latin typeface="Arial"/>
                <a:ea typeface="Arial"/>
                <a:cs typeface="Arial"/>
              </a:rPr>
              <a:t>NOT FOR FABRICATION / PROCUREMENT /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F7EAD-A676-4FDC-9F5E-DF0A6FB0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886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D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D77"/>
                </a:solidFill>
                <a:latin typeface="Arial"/>
                <a:ea typeface="Arial"/>
                <a:cs typeface="Arial"/>
              </a:rPr>
              <a:t>UNSPECIFIED VALUES REMAIN TBD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2893608d5d4476"/>
          <a:stretch xmlns:a="http://schemas.openxmlformats.org/drawingml/2006/main"/>
        </p:blipFill>
        <p:spPr>
          <a:xfrm xmlns:a="http://schemas.openxmlformats.org/drawingml/2006/main">
            <a:off x="990600" y="593786"/>
            <a:ext cx="10210800" cy="574662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12F41-C25F-48AE-8375-8535CDF4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96202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EB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0F8B0-3A0F-45F5-8CA1-99EAA8F9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962025"/>
            <a:ext cx="95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EB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77620-73A0-4EA4-A0E6-69DECF81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323975"/>
            <a:ext cx="27527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EB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C3637-D40D-4E89-B0AE-80382295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538" y="12906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B3"/>
          </a:solidFill>
          <a:ln xmlns:a="http://schemas.openxmlformats.org/drawingml/2006/main" w="0">
            <a:solidFill>
              <a:srgbClr val="009EB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44281F-9AF0-4D7C-9B22-A8D3464D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8105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9EB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E11631-78AC-4A22-96E6-9CBB60B7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96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QKD Optical Telescope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FC3109-03F3-4229-B39D-445D316D5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55257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95F69-55A5-4F6D-B06B-FE9C2B8D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52575"/>
            <a:ext cx="95" cy="110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4776A4-9E66-4245-AA7D-C01ADF2E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57475"/>
            <a:ext cx="2895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29731A-2049-4518-8494-17BF0060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413" y="26241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solidFill>
              <a:srgbClr val="0A2A4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639A4B-2773-4757-AEC5-C9615083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7160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A2A4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321098-26D6-4471-B298-63BFCFC82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00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Coarse-Pointing Gimbal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FC6D11-6A91-4803-8E69-DACA498E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4312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EB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0D7DF9-34C7-4484-BB65-3911C3A3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43125"/>
            <a:ext cx="9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EB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4C402E-D522-4551-A009-DAD62D1D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38375"/>
            <a:ext cx="4495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EB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53437B-D25B-4CF0-BDA9-4C5A3C44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6613" y="22050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B3"/>
          </a:solidFill>
          <a:ln xmlns:a="http://schemas.openxmlformats.org/drawingml/2006/main" w="0">
            <a:solidFill>
              <a:srgbClr val="009EB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AFBA4A-ABC0-40CB-B5F1-4F53F30D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96215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9EB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7463C6-7D09-40FB-AAEA-8C3B3359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907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Fine-Steering / Tracking Head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26CC5D-F2B3-4311-A8D9-989F98C7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3367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0E41AE-D82C-4780-9D37-08C65DEB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33675"/>
            <a:ext cx="95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B12578-3722-4240-AE84-C7B55D91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57550"/>
            <a:ext cx="3581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E77047-317A-4007-8228-A95652E6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213" y="32242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solidFill>
              <a:srgbClr val="0A2A4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40F372-BE99-4CB3-9B26-D0598FDE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55270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A2A4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6CC89D-4081-4911-A669-693ADE23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5812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Star Tracker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415F84-2853-438F-8873-BDBEB0CC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4827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056A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0630F3-6AEE-4B89-9558-DE4F74C5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81475"/>
            <a:ext cx="95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056A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744C60-06BB-44C9-BDC6-99413A77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81475"/>
            <a:ext cx="4857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056A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5A88B8-4782-4D4A-ADE7-5B44C9AC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41481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56A3"/>
          </a:solidFill>
          <a:ln xmlns:a="http://schemas.openxmlformats.org/drawingml/2006/main" w="0">
            <a:solidFill>
              <a:srgbClr val="3056A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6E797E-8F9C-427B-8B26-4D1B1936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06730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056A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63C8D9-C858-446E-A844-DE4B64A8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0958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546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Authenticated Classical Antenna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D8A3F7-A37B-4500-958E-E0E88D9F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96202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2CB7BC-E94D-4C44-B033-0100A4A9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962025"/>
            <a:ext cx="95" cy="3228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69CF63-8B53-425B-9A5D-7AC90EB7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91000"/>
            <a:ext cx="4000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467D1B-900E-4623-9511-943ABC9E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463" y="41576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solidFill>
              <a:srgbClr val="0A2A4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1B267E-42A0-4C2D-99ED-4DA33CB1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8105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A2A4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95CCC5-590A-478B-A15F-76DF695C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096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Solar Array (x2)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B1C2D6-0960-43B4-AFFE-9D4ED9E0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5257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D95F83-8CD8-4A89-8F69-BBAA9612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52575"/>
            <a:ext cx="95" cy="2924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35F1C65-B7D3-4647-A8F5-B31CCCC4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76750"/>
            <a:ext cx="15144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842853-CCB9-443E-94AB-3EFA12FE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038" y="44434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solidFill>
              <a:srgbClr val="0A2A4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65323C5-1B70-4927-867A-6CA3484C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37160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A2A4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A28B896-053F-4FCF-9F2B-483C9F81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400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Radiator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42A498-5369-4A20-8D68-AB973A89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24827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66A1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5F8DA56-7FEE-4970-886F-B5D359D5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91075"/>
            <a:ext cx="95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66A14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3AB602-CFCB-4867-BA32-1F25B2CE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791075"/>
            <a:ext cx="31146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66A1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3BC0AA-B9D1-4191-8133-CBF2BEF4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838" y="47577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14"/>
          </a:solidFill>
          <a:ln xmlns:a="http://schemas.openxmlformats.org/drawingml/2006/main" w="0">
            <a:solidFill>
              <a:srgbClr val="C66A1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F55E8A8-CF40-48A8-A40A-59C0AC0A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06730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6A1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ECF293B-87A6-4C57-A058-86306700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0958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Payload &amp; Evidence Computer</a:t>
            </a:r>
          </a:p>
        </p:txBody>
      </p:sp>
    </p:spTree>
    <p:extLst>
      <p:ext uri="{BB962C8B-B14F-4D97-AF65-F5344CB8AC3E}">
        <p14:creationId xmlns:p14="http://schemas.microsoft.com/office/powerpoint/2010/main" val="1957402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1E19CC5-341A-496E-870F-C6CD4C4A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solidFill>
              <a:srgbClr val="0A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27CCD-6FC1-4CF4-8292-95F45209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B3"/>
          </a:solidFill>
          <a:ln xmlns:a="http://schemas.openxmlformats.org/drawingml/2006/main" w="0">
            <a:solidFill>
              <a:srgbClr val="009EB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497D1-A21A-4F20-B702-7E3B1144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5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DWG-102 · REV 0.2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FD49D2-3F36-41AD-ABE4-C4689933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62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GROUND OPTICAL STATION · ANNOTATED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8C0DA-9369-45FE-8D00-56CB48F3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52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Q-ORBIT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239E9-B613-4F8B-85D9-A80FF14E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9C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31711C-F196-4705-8B5E-28B23B40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534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323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3232"/>
                </a:solidFill>
                <a:latin typeface="Arial"/>
                <a:ea typeface="Arial"/>
                <a:cs typeface="Arial"/>
              </a:rPr>
              <a:t>CONCEPTUAL · PRIVATE · 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C283A3-2A19-4089-AA20-039C56D4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534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D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D77"/>
                </a:solidFill>
                <a:latin typeface="Arial"/>
                <a:ea typeface="Arial"/>
                <a:cs typeface="Arial"/>
              </a:rPr>
              <a:t>NOT FOR FABRICATION / PROCUREMENT /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E1E01-9F66-456A-93D0-B1BC2634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886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D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D77"/>
                </a:solidFill>
                <a:latin typeface="Arial"/>
                <a:ea typeface="Arial"/>
                <a:cs typeface="Arial"/>
              </a:rPr>
              <a:t>UNSPECIFIED VALUES REMAIN TBD</a:t>
            </a:r>
          </a:p>
        </p:txBody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c05e8c6394380"/>
          <a:stretch xmlns:a="http://schemas.openxmlformats.org/drawingml/2006/main"/>
        </p:blipFill>
        <p:spPr>
          <a:xfrm xmlns:a="http://schemas.openxmlformats.org/drawingml/2006/main">
            <a:off x="990600" y="593786"/>
            <a:ext cx="10210800" cy="5746628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FC170-CF98-43D2-B131-2A160A1E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96202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CE861-6DF6-4228-885D-14CF1FB0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962025"/>
            <a:ext cx="95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51162-8580-4D4C-9052-C59A5261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52650"/>
            <a:ext cx="1447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AEB3BB-FA1B-4E1F-B2E6-E75BC2AC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613" y="21193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solidFill>
              <a:srgbClr val="0A2A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4E218-4635-4DD7-9B91-801909F9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8105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A2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E3EDE-5310-4588-87D1-02116F17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96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Protective Clamshell Enclosure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71652-258A-44B2-AD1D-AC1D05F0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55257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EB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518C2-3B90-4B31-814C-0672CFAE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52575"/>
            <a:ext cx="95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EB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FF2F8-98FE-49FC-9E50-7BF90556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38450"/>
            <a:ext cx="20859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EB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6BAF7-1A46-45C9-9D14-B3EA8C2B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6788" y="28051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B3"/>
          </a:solidFill>
          <a:ln xmlns:a="http://schemas.openxmlformats.org/drawingml/2006/main" w="0">
            <a:solidFill>
              <a:srgbClr val="009EB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8BA4EE-B543-4906-AA39-C3FB71F9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7160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9EB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629599-FAB9-4AFC-9B08-6040CEED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00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Az–El Optical Telescope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D16EBA-48D3-42D9-867B-0B59A956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4312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EB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49CE08-5A99-442F-8322-E9E2989E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95" cy="390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EB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4FFB0F-8A62-4D45-984E-9709344C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21812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EB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A3B71A-4BBB-4355-8900-751D74AB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038" y="17192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B3"/>
          </a:solidFill>
          <a:ln xmlns:a="http://schemas.openxmlformats.org/drawingml/2006/main" w="0">
            <a:solidFill>
              <a:srgbClr val="009EB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AE23A3-F62D-4B22-85B9-854533D4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96215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9EB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72CBE1-9F47-42DF-A3C7-EF82D337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907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Receive / Tracking Aperture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D6D97D-78FC-46C0-A6C7-DAFCDD58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3367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75D1A2-8B0E-48E4-B4C4-725AA354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76400"/>
            <a:ext cx="95" cy="1057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00DA0D-0A07-4C21-88BC-24BDDCFE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76400"/>
            <a:ext cx="29146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82BDDB-94CB-4EDC-B19C-D2A9F9B1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463" y="16430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solidFill>
              <a:srgbClr val="0A2A4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6DDEB2-42F1-4199-B3A5-064D7080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55270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A2A4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EA5016-47D9-48FA-AE6E-B64F7A83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5812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Tracking Camera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398219-C8DC-4025-91E1-789CD553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4827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056A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33EACF-C029-4E08-A9D6-0BC78408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05250"/>
            <a:ext cx="95" cy="1343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056A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3DE99C-246B-4FFE-922D-CD0EDE8B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05250"/>
            <a:ext cx="857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3056A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63BA83-CC3F-4708-BAFA-C0BB7729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563" y="38719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56A3"/>
          </a:solidFill>
          <a:ln xmlns:a="http://schemas.openxmlformats.org/drawingml/2006/main" w="0">
            <a:solidFill>
              <a:srgbClr val="3056A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78AACB-7A38-4BB0-9C29-6337ED9A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06730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056A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6174CC-77C0-428A-8B6C-7586358F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0958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GNSS / Timing Antenna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DE7810-2CF9-445C-8576-E7C6C4B4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96202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2553C1-1A39-405B-AE4A-2422BCF8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962025"/>
            <a:ext cx="95" cy="885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DBDC37-1C6D-4414-937B-5A39AF5C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847850"/>
            <a:ext cx="23145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C19CD6-C5B5-4EF1-BCE4-43B6F493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18145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solidFill>
              <a:srgbClr val="0A2A4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714EA2-1A2B-4097-B929-FF16D779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8105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A2A4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174285-CEA3-416E-BEFE-5F1AFE75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096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Weather &amp; Visibility Mast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C6E34C-C8B3-42BD-8614-51D3058D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5257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66A1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E56BE4-6752-487F-A4F2-4E2CCE29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52575"/>
            <a:ext cx="95" cy="2724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66A1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0860BF-26F9-42B9-815D-82483085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76725"/>
            <a:ext cx="15621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66A1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77F40B-ABE8-45BA-87D5-1958EC50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413" y="42433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14"/>
          </a:solidFill>
          <a:ln xmlns:a="http://schemas.openxmlformats.org/drawingml/2006/main" w="0">
            <a:solidFill>
              <a:srgbClr val="C66A1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886190E-98E7-4E3A-BEE4-5D25C530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37160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6A1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9D7079-E3E5-4805-A869-6F623F4B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400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Safety Interlock Cabinet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B94626C-F349-4312-8CF6-5569B493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4312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A42DB8-6262-4503-9F90-9FE47C94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43125"/>
            <a:ext cx="95" cy="1457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9E8AB58-F633-4BFF-B996-B7A311DD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00450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604DFDC-CFD4-4F8D-8C4F-E6F23A18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963" y="35671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solidFill>
              <a:srgbClr val="0A2A4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EB67E5-F941-4176-9F83-6B8AB5C1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6215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A2A4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106F748-66AA-451B-9356-3B7A33B2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907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Control &amp; Evidence Shelter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8125544-9AD8-4760-8DC3-16610FE7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24827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2DF92B-C62B-4A88-A410-7D4E95B0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248275"/>
            <a:ext cx="95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D0F9F64-9403-40F4-AC36-1ABCBAD1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14950"/>
            <a:ext cx="26098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86D77CF-BF7F-4048-A9FC-885A4CDC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663" y="52816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solidFill>
              <a:srgbClr val="0A2A4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FF1E665-4185-4E6F-94AF-46F9E123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06730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A2A4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05BEB7B-DB10-4F44-A585-692397F2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0958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5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Protected Service / Cable Trench</a:t>
            </a:r>
          </a:p>
        </p:txBody>
      </p:sp>
    </p:spTree>
    <p:extLst>
      <p:ext uri="{BB962C8B-B14F-4D97-AF65-F5344CB8AC3E}">
        <p14:creationId xmlns:p14="http://schemas.microsoft.com/office/powerpoint/2010/main" val="16539584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D42FA09-6F56-4D0E-8B02-FEF632AA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solidFill>
              <a:srgbClr val="0A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9D61F-2E6A-440B-AE04-B63A2867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B3"/>
          </a:solidFill>
          <a:ln xmlns:a="http://schemas.openxmlformats.org/drawingml/2006/main" w="0">
            <a:solidFill>
              <a:srgbClr val="009EB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56666-BBFB-4222-86ED-D426616A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5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DWG-103 · REV 0.2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0C943-D3B9-4FEF-BD08-A3106DFC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62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GROUND OPTICAL CHAIN · CUTAWAY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B223C-80F0-4522-84FC-F1FBCE0A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52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Q-ORBIT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D26F0-0C86-4ED7-85FD-E8178523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9C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57793-FD55-418E-811D-488FCD9A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534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323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3232"/>
                </a:solidFill>
                <a:latin typeface="Arial"/>
                <a:ea typeface="Arial"/>
                <a:cs typeface="Arial"/>
              </a:rPr>
              <a:t>CONCEPTUAL · PRIVATE · 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C7429-067B-462D-9E7F-95FEFFC9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534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D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D77"/>
                </a:solidFill>
                <a:latin typeface="Arial"/>
                <a:ea typeface="Arial"/>
                <a:cs typeface="Arial"/>
              </a:rPr>
              <a:t>NOT FOR FABRICATION / PROCUREMENT /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5CDC9-5C5F-4C34-ACBF-37270ABE3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886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D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D77"/>
                </a:solidFill>
                <a:latin typeface="Arial"/>
                <a:ea typeface="Arial"/>
                <a:cs typeface="Arial"/>
              </a:rPr>
              <a:t>UNSPECIFIED VALUES REMAIN TBD</a:t>
            </a:r>
          </a:p>
        </p:txBody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b272222184bbe"/>
          <a:stretch xmlns:a="http://schemas.openxmlformats.org/drawingml/2006/main"/>
        </p:blipFill>
        <p:spPr>
          <a:xfrm xmlns:a="http://schemas.openxmlformats.org/drawingml/2006/main">
            <a:off x="883305" y="533400"/>
            <a:ext cx="10425391" cy="58674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A6514-A01E-4596-B645-1CBBEC02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96202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EB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DC2817-A31C-46EF-97E3-D0772D5A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962025"/>
            <a:ext cx="95" cy="1657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EB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7369C-3EA6-4C95-A2E2-9642B107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19375"/>
            <a:ext cx="10763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EB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F989F-9708-48A2-8E25-E4C65F5B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7138" y="25860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B3"/>
          </a:solidFill>
          <a:ln xmlns:a="http://schemas.openxmlformats.org/drawingml/2006/main" w="0">
            <a:solidFill>
              <a:srgbClr val="009EB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DD605-ED94-4F5B-95B6-BA11D84B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78105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9EB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C250D4-FFA2-4A5B-A21F-6ECE137A9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96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Telescope / Coude Entry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CC1CD-E455-4327-9286-DEFAF808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55257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EB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D36953-2E2B-4D40-9ED6-A7FB63B8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52575"/>
            <a:ext cx="95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EB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0205C5-6534-41FE-B127-F56D550B0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95625"/>
            <a:ext cx="24193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EB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143DE1-2395-457D-998F-2206FE24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163" y="30622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B3"/>
          </a:solidFill>
          <a:ln xmlns:a="http://schemas.openxmlformats.org/drawingml/2006/main" w="0">
            <a:solidFill>
              <a:srgbClr val="009EB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87A837-ABF7-42C7-9EA8-E3E09DAC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37160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9EB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9D0D14-5B65-49AA-8B09-E0A291C5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00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Relay Optics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FF4805-BF51-4AAD-8AF1-8F5B7D15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4312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7711A9-EA3D-4B2B-8DAF-3ED9620B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43125"/>
            <a:ext cx="95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28F9ED-76D7-483B-B0A3-3945176A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09925"/>
            <a:ext cx="3505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58E935-F28D-466F-9C74-1CC12B3F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013" y="31765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solidFill>
              <a:srgbClr val="0A2A4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92D63E-3822-4A8E-94CE-69BF5DD9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96215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A2A4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F254EB-B046-448C-AE31-0EF626C4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907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Spectral Filter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57EE26-AB7E-41B6-8018-C890C7B8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3367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43BC3B-0B8D-41B6-8F63-AFCC4EF9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33675"/>
            <a:ext cx="95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302427-7076-480E-859A-B0EEA6F6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19475"/>
            <a:ext cx="45910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D0A297-AB3A-40DC-BDAA-8D763B50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1863" y="33861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solidFill>
              <a:srgbClr val="0A2A4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BE52AC-0C3C-4309-8AC5-8607F9CA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55270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A2A4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78DB18-4BFE-4771-8AA7-ADA6F3AB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5812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42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Spatial Coupling / Fiber Injection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F6C4CB-F3E6-44C4-8C3D-94371006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96202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EB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F4DB7C-0363-4C87-8B54-EBAF16E5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962025"/>
            <a:ext cx="95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EB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702D70-FCBC-4B95-BF0D-4DA44A12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362325"/>
            <a:ext cx="92392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09EB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1913CE-F7AB-494C-BC80-AD24AA70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588" y="33289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B3"/>
          </a:solidFill>
          <a:ln xmlns:a="http://schemas.openxmlformats.org/drawingml/2006/main" w="0">
            <a:solidFill>
              <a:srgbClr val="009EB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CC51B1-A57A-452D-B362-37FFCB2C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8105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9EB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0E211A-0C1E-4DFB-8D12-172A8BBE7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8096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Detector &amp; Time Tagging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7A2E4E-DD02-456A-8767-14386DDD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5257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66A1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A73B3B-5487-4096-A4F6-AC0E929F5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552575"/>
            <a:ext cx="95" cy="1771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66A1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51273E-AE7E-4E98-93A2-510128C2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24225"/>
            <a:ext cx="666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66A1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DC8450-22E7-4938-8269-855F4DB53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88" y="32908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14"/>
          </a:solidFill>
          <a:ln xmlns:a="http://schemas.openxmlformats.org/drawingml/2006/main" w="0">
            <a:solidFill>
              <a:srgbClr val="C66A1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485D00-9493-4014-8404-D18197EB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37160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6A1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0CDE71-8FE1-4ED2-BB38-29092D00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4001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Processing &amp; Evidence Rack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4B48A1-938E-41D8-991F-1EFE6461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4312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B8323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DE3EF7-EC5F-451F-AD95-C7842436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43125"/>
            <a:ext cx="95" cy="1800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B8323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EA95D0-4C47-4E5B-8649-72964CEB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43350"/>
            <a:ext cx="9906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B8323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6F7006-7687-49BF-B538-B37E11F6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113" y="39100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3232"/>
          </a:solidFill>
          <a:ln xmlns:a="http://schemas.openxmlformats.org/drawingml/2006/main" w="0">
            <a:solidFill>
              <a:srgbClr val="B8323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E60166-DBBE-4B77-BE84-F65DD50D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6215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323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4A8A114-3AEF-45D0-B254-F11C1039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907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Safety Interlock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1DB121-571C-459A-B373-A14722DF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248275"/>
            <a:ext cx="1714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851F20B-9CBB-491E-9920-86E74106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248275"/>
            <a:ext cx="95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E90ACA2-672E-4EB0-B362-19CEDCFD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438775"/>
            <a:ext cx="26479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0A2A4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7EFE7D9-E729-4E66-8019-74C34421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563" y="54054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solidFill>
              <a:srgbClr val="0A2A4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F0AF300-8B8B-4CB2-91C3-B0055CB4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067300"/>
            <a:ext cx="23812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A2A4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4224F5-BB7A-461D-9ADD-8E612C8D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0958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Protected Service Trench</a:t>
            </a:r>
          </a:p>
        </p:txBody>
      </p:sp>
    </p:spTree>
    <p:extLst>
      <p:ext uri="{BB962C8B-B14F-4D97-AF65-F5344CB8AC3E}">
        <p14:creationId xmlns:p14="http://schemas.microsoft.com/office/powerpoint/2010/main" val="5535041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D784F83-7F96-4286-9047-2F147310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A43"/>
          </a:solidFill>
          <a:ln xmlns:a="http://schemas.openxmlformats.org/drawingml/2006/main" w="0">
            <a:solidFill>
              <a:srgbClr val="0A2A4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6FD05-EA4F-4E5B-8E10-5D849704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B3"/>
          </a:solidFill>
          <a:ln xmlns:a="http://schemas.openxmlformats.org/drawingml/2006/main" w="0">
            <a:solidFill>
              <a:srgbClr val="009EB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02664-F9CF-488E-8DB6-6A3423F5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5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DWG-104 · REV 0.2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2D289-8FE2-4C07-8BC8-0AE72AB7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620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QUANTUM / CLASSICAL / EVIDENCE PATHS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D3E11-766D-44E7-9482-3B52DD02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952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Q-ORBIT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3901A-EF81-437F-889E-F2299A91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19850"/>
            <a:ext cx="1219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9525">
            <a:solidFill>
              <a:srgbClr val="B9C7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FAE1B-04A7-4C19-BAB6-5409D499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65341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323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3232"/>
                </a:solidFill>
                <a:latin typeface="Arial"/>
                <a:ea typeface="Arial"/>
                <a:cs typeface="Arial"/>
              </a:rPr>
              <a:t>CONCEPTUAL · PRIVATE · 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971D0-A8D2-4E9C-8D63-9CC52983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5341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6D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D77"/>
                </a:solidFill>
                <a:latin typeface="Arial"/>
                <a:ea typeface="Arial"/>
                <a:cs typeface="Arial"/>
              </a:rPr>
              <a:t>NOT FOR FABRICATION / PROCUREMENT / OPERATION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18AD4-1F5C-4E3D-87FE-5E1FEAA0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34150"/>
            <a:ext cx="3886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D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6D77"/>
                </a:solidFill>
                <a:latin typeface="Arial"/>
                <a:ea typeface="Arial"/>
                <a:cs typeface="Arial"/>
              </a:rPr>
              <a:t>UNSPECIFIED VALUES REMAIN TBD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423B8-5C28-4443-BFC6-B05DFB6A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009650"/>
            <a:ext cx="6934200" cy="4362450"/>
          </a:xfrm>
          <a:prstGeom xmlns:a="http://schemas.openxmlformats.org/drawingml/2006/main" prst="roundRect">
            <a:avLst>
              <a:gd name="adj" fmla="val 6114"/>
            </a:avLst>
          </a:prstGeom>
          <a:solidFill xmlns:a="http://schemas.openxmlformats.org/drawingml/2006/main">
            <a:srgbClr val="F4F7F9"/>
          </a:solidFill>
          <a:ln xmlns:a="http://schemas.openxmlformats.org/drawingml/2006/main" w="38100">
            <a:solidFill>
              <a:srgbClr val="0A2A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DDC54-835F-4103-B81E-7D143E20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1430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A2A4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2A43"/>
                </a:solidFill>
                <a:latin typeface="Arial"/>
                <a:ea typeface="Arial"/>
                <a:cs typeface="Arial"/>
              </a:rPr>
              <a:t>CONTROLLED Q-ORBIT SYSTEM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74067-15C7-424A-9D38-21EFB106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0"/>
            <a:ext cx="2076450" cy="2305050"/>
          </a:xfrm>
          <a:prstGeom xmlns:a="http://schemas.openxmlformats.org/drawingml/2006/main" prst="roundRect">
            <a:avLst>
              <a:gd name="adj" fmla="val 82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9EB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599C95-80D9-433E-91CD-D966012B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62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28575">
            <a:solidFill>
              <a:srgbClr val="009EB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899D7-3024-43EB-8987-22C32489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B3"/>
          </a:solidFill>
          <a:ln xmlns:a="http://schemas.openxmlformats.org/drawingml/2006/main" w="0">
            <a:solidFill>
              <a:srgbClr val="009EB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B4D08C-9E06-4393-ABAA-E9DF5AB9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0040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9EB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9EB3"/>
                </a:solidFill>
                <a:latin typeface="Arial"/>
                <a:ea typeface="Arial"/>
                <a:cs typeface="Arial"/>
              </a:rPr>
              <a:t>QKD-A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2963E-37F1-4A54-B06B-196FE191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5757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Space Endpoint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17F14-C112-4D38-A6E7-EA8FFBA9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819525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D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D77"/>
                </a:solidFill>
                <a:latin typeface="Arial"/>
                <a:ea typeface="Arial"/>
                <a:cs typeface="Arial"/>
              </a:rPr>
              <a:t>Optical terminal concept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E82A7-4952-408C-806F-A66AA629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95500"/>
            <a:ext cx="2076450" cy="2305050"/>
          </a:xfrm>
          <a:prstGeom xmlns:a="http://schemas.openxmlformats.org/drawingml/2006/main" prst="roundRect">
            <a:avLst>
              <a:gd name="adj" fmla="val 82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3056A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6FD587-B479-4141-9D2E-070CC9AC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622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7F9"/>
          </a:solidFill>
          <a:ln xmlns:a="http://schemas.openxmlformats.org/drawingml/2006/main" w="28575">
            <a:solidFill>
              <a:srgbClr val="3056A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F900FB-6E07-415F-8CDB-509E96F0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571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56A3"/>
          </a:solidFill>
          <a:ln xmlns:a="http://schemas.openxmlformats.org/drawingml/2006/main" w="0">
            <a:solidFill>
              <a:srgbClr val="3056A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FCD67E-939E-4CE4-A326-3710B7C0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00400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056A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056A3"/>
                </a:solidFill>
                <a:latin typeface="Arial"/>
                <a:ea typeface="Arial"/>
                <a:cs typeface="Arial"/>
              </a:rPr>
              <a:t>QKD-B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76B265-B5C6-4E86-AE9A-6A7F5FC9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57575"/>
            <a:ext cx="1733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Ground Endpoint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80173D-EE33-4A77-A037-73667329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819525"/>
            <a:ext cx="1733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D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D77"/>
                </a:solidFill>
                <a:latin typeface="Arial"/>
                <a:ea typeface="Arial"/>
                <a:cs typeface="Arial"/>
              </a:rPr>
              <a:t>Tabuk region concept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45D0D8-6BD7-4529-90EB-E7BE9C5A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4310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9EB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BA8FEE-5DA4-410E-B996-244071FA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4310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9EB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D3210A-B66B-413B-B62F-64BA570F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43100"/>
            <a:ext cx="14287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056A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323076-761F-45DC-AC3E-3AA9F0DE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66925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ACQUIRE &amp;</a:t>
            </a:r>
          </a:p>
          <a:p xmlns:a="http://schemas.openxmlformats.org/drawingml/2006/main">
            <a:pPr algn="ctr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TRACK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D79183-4DAE-4A84-8587-4719820F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66925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DETECT &amp;</a:t>
            </a:r>
          </a:p>
          <a:p xmlns:a="http://schemas.openxmlformats.org/drawingml/2006/main">
            <a:pPr algn="ctr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TIME-TAG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BCE159-011D-41D1-98A9-42437DED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66925"/>
            <a:ext cx="1162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SIFT &amp;</a:t>
            </a:r>
          </a:p>
          <a:p xmlns:a="http://schemas.openxmlformats.org/drawingml/2006/main">
            <a:pPr algn="ctr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FINITE-KEY</a:t>
            </a:r>
          </a:p>
        </p:txBody>
      </p:sp>
      <p:cxnSp>
        <p:nvCxnSpPr>
          <p:cNvPr id="79" name=""/>
          <p:cNvCxnSpPr>
            <a:stCxn xmlns:a="http://schemas.openxmlformats.org/drawingml/2006/main" id="1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2343150" y="2305050"/>
            <a:ext cx="762000" cy="94297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9EB3"/>
            </a:solidFill>
            <a:prstDash val="solid"/>
            <a:tailEnd type="arrow" w="med" len="med"/>
          </a:ln>
        </p:spPr>
      </p:cxnSp>
      <p:cxnSp>
        <p:nvCxnSpPr>
          <p:cNvPr id="80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533900" y="23050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09EB3"/>
            </a:solidFill>
            <a:prstDash val="solid"/>
            <a:tailEnd type="arrow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6496050" y="23050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056A3"/>
            </a:solidFill>
            <a:prstDash val="solid"/>
            <a:tailEnd type="arrow" w="med" len="med"/>
          </a:ln>
        </p:spPr>
      </p:cxnSp>
      <p:cxnSp>
        <p:nvCxnSpPr>
          <p:cNvPr id="82" name=""/>
          <p:cNvCxnSpPr>
            <a:stCxn xmlns:a="http://schemas.openxmlformats.org/drawingml/2006/main" id="2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458200" y="2305050"/>
            <a:ext cx="1390650" cy="94297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056A3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7BAB80-228B-4D00-BB09-067AE336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63830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9EB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9EB3"/>
                </a:solidFill>
                <a:latin typeface="Arial"/>
                <a:ea typeface="Arial"/>
                <a:cs typeface="Arial"/>
              </a:rPr>
              <a:t>QUANTUM OPTICAL PATH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701624-C815-4290-9F76-26BD238A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383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056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056A3"/>
                </a:solidFill>
                <a:latin typeface="Arial"/>
                <a:ea typeface="Arial"/>
                <a:cs typeface="Arial"/>
              </a:rPr>
              <a:t>AUTHENTICATED CLASSICAL PATH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C1E6F8-5C30-4088-85D8-533C52B7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57600"/>
            <a:ext cx="20764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6A1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BD7C54-51CC-4590-B5F5-6E35FAA4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57600"/>
            <a:ext cx="20764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28575">
            <a:solidFill>
              <a:srgbClr val="B8323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E3C2B0-30EC-419A-A2CA-CBE97580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623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66A1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6A14"/>
                </a:solidFill>
                <a:latin typeface="Arial"/>
                <a:ea typeface="Arial"/>
                <a:cs typeface="Arial"/>
              </a:rPr>
              <a:t>AQMO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B5C6BD-F122-4853-B8A2-AF0AECA3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38600"/>
            <a:ext cx="1695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18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1826"/>
                </a:solidFill>
                <a:latin typeface="Arial"/>
                <a:ea typeface="Arial"/>
                <a:cs typeface="Arial"/>
              </a:rPr>
              <a:t>Metadata only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DF89D0-41EC-41BD-BDFA-5F9DACE6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57675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D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D77"/>
                </a:solidFill>
                <a:latin typeface="Arial"/>
                <a:ea typeface="Arial"/>
                <a:cs typeface="Arial"/>
              </a:rPr>
              <a:t>No key values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E6377A-D9AC-4A4E-AD8C-78876670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623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8323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3232"/>
                </a:solidFill>
                <a:latin typeface="Arial"/>
                <a:ea typeface="Arial"/>
                <a:cs typeface="Arial"/>
              </a:rPr>
              <a:t>RELEASE GATE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492CCA-160E-4700-ADD4-14A1FEFD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57650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8323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3232"/>
                </a:solidFill>
                <a:latin typeface="Arial"/>
                <a:ea typeface="Arial"/>
                <a:cs typeface="Arial"/>
              </a:rPr>
              <a:t>KEY QUARANTINED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9F0187-2D91-43C9-A2EE-2E7DE9D8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95775"/>
            <a:ext cx="1695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4444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E6D7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E6D77"/>
                </a:solidFill>
                <a:latin typeface="Arial"/>
                <a:ea typeface="Arial"/>
                <a:cs typeface="Arial"/>
              </a:rPr>
              <a:t>Fail closed</a:t>
            </a:r>
          </a:p>
        </p:txBody>
      </p:sp>
      <p:cxnSp>
        <p:nvCxnSpPr>
          <p:cNvPr id="93" name=""/>
          <p:cNvCxnSpPr>
            <a:stCxn xmlns:a="http://schemas.openxmlformats.org/drawingml/2006/main" id="25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 flipH="1">
            <a:off x="4676775" y="2667000"/>
            <a:ext cx="1104900" cy="990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C66A14"/>
            </a:solidFill>
            <a:prstDash val="dot"/>
            <a:tailEnd type="arrow" w="sm" len="sm"/>
          </a:ln>
        </p:spPr>
      </p:cxnSp>
      <p:cxnSp>
        <p:nvCxnSpPr>
          <p:cNvPr id="94" name=""/>
          <p:cNvCxnSpPr>
            <a:stCxn xmlns:a="http://schemas.openxmlformats.org/drawingml/2006/main" id="26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 flipH="1">
            <a:off x="7534275" y="2667000"/>
            <a:ext cx="209550" cy="990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C66A14"/>
            </a:solidFill>
            <a:prstDash val="dot"/>
            <a:tailEnd type="arrow" w="sm" len="sm"/>
          </a:ln>
        </p:spPr>
      </p:cxnSp>
      <p:cxnSp>
        <p:nvCxnSpPr>
          <p:cNvPr id="95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5715000" y="407670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66A14"/>
            </a:solidFill>
            <a:prstDash val="dot"/>
            <a:tailEnd type="arrow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D0FD91-9670-490E-B90E-C3F1CD53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86300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66A1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6A14"/>
                </a:solidFill>
                <a:latin typeface="Arial"/>
                <a:ea typeface="Arial"/>
                <a:cs typeface="Arial"/>
              </a:rPr>
              <a:t>NON-SECRET EVIDENCE / CONTROL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A021D3-2851-4822-8965-0FF9136B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10150"/>
            <a:ext cx="628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7C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3C0E7D-BF37-4720-9279-EA5CCC0C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38725"/>
            <a:ext cx="5981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E6D7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E6D77"/>
                </a:solidFill>
                <a:latin typeface="Arial"/>
                <a:ea typeface="Arial"/>
                <a:cs typeface="Arial"/>
              </a:rPr>
              <a:t>No EPR / entanglement-source / repeater claim · no operational key release</a:t>
            </a:r>
          </a:p>
        </p:txBody>
      </p:sp>
    </p:spTree>
    <p:extLst>
      <p:ext uri="{BB962C8B-B14F-4D97-AF65-F5344CB8AC3E}">
        <p14:creationId xmlns:p14="http://schemas.microsoft.com/office/powerpoint/2010/main" val="17600520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2026-08-26T15:29:38.9860000Z</dcterms:created>
  <dcterms:modified xsi:type="dcterms:W3CDTF">2026-08-26T15:29:38.9860000Z</dcterms:modified>
</coreProperties>
</file>