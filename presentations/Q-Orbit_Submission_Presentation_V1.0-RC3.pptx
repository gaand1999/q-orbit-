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334f67735547e3" /><Relationship Type="http://schemas.openxmlformats.org/officeDocument/2006/relationships/extended-properties" Target="/docProps/app.xml" Id="Rf9358eb5f7f347ec" /><Relationship Type="http://schemas.openxmlformats.org/officeDocument/2006/relationships/officeDocument" Target="/ppt/presentation.xml" Id="R6d7ec2d7c846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c61132328d4db0"/>
  </p:sldMasterIdLst>
  <p:notesMasterIdLst>
    <p:notesMasterId xmlns:r="http://schemas.openxmlformats.org/officeDocument/2006/relationships" r:id="R4ac133416452409f"/>
  </p:notesMasterIdLst>
  <p:sldIdLst>
    <p:sldId xmlns:r="http://schemas.openxmlformats.org/officeDocument/2006/relationships" id="256" r:id="Rbd53828c59d649dc"/>
    <p:sldId xmlns:r="http://schemas.openxmlformats.org/officeDocument/2006/relationships" id="257" r:id="Rac0174ca98714b77"/>
    <p:sldId xmlns:r="http://schemas.openxmlformats.org/officeDocument/2006/relationships" id="258" r:id="R2f0f4403fc6c4af0"/>
    <p:sldId xmlns:r="http://schemas.openxmlformats.org/officeDocument/2006/relationships" id="259" r:id="R954eeb220d284ee4"/>
    <p:sldId xmlns:r="http://schemas.openxmlformats.org/officeDocument/2006/relationships" id="260" r:id="R5c4722a57d014886"/>
    <p:sldId xmlns:r="http://schemas.openxmlformats.org/officeDocument/2006/relationships" id="261" r:id="Rda232bac4f4c408f"/>
    <p:sldId xmlns:r="http://schemas.openxmlformats.org/officeDocument/2006/relationships" id="262" r:id="Re67c3223241148fa"/>
    <p:sldId xmlns:r="http://schemas.openxmlformats.org/officeDocument/2006/relationships" id="263" r:id="Ra8f5e35b3b014b3f"/>
    <p:sldId xmlns:r="http://schemas.openxmlformats.org/officeDocument/2006/relationships" id="264" r:id="R80c6f6f931bf462c"/>
    <p:sldId xmlns:r="http://schemas.openxmlformats.org/officeDocument/2006/relationships" id="265" r:id="R9ee6adb10a36475f"/>
    <p:sldId xmlns:r="http://schemas.openxmlformats.org/officeDocument/2006/relationships" id="266" r:id="R069430033a8d4b61"/>
    <p:sldId xmlns:r="http://schemas.openxmlformats.org/officeDocument/2006/relationships" id="267" r:id="Rf20047e033bf4baf"/>
    <p:sldId xmlns:r="http://schemas.openxmlformats.org/officeDocument/2006/relationships" id="268" r:id="R19e1624723694f9f"/>
    <p:sldId xmlns:r="http://schemas.openxmlformats.org/officeDocument/2006/relationships" id="269" r:id="R00263558a00542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c9f24ddc3f441c" /><Relationship Type="http://schemas.openxmlformats.org/officeDocument/2006/relationships/slideMaster" Target="/ppt/slideMasters/slideMaster1.xml" Id="R3dc61132328d4db0" /><Relationship Type="http://schemas.openxmlformats.org/officeDocument/2006/relationships/notesMaster" Target="/ppt/notesMasters/notesMaster1.xml" Id="R4ac133416452409f" /><Relationship Type="http://schemas.openxmlformats.org/officeDocument/2006/relationships/presProps" Target="/ppt/presProps.xml" Id="Rf28d3ec3fc624885" /><Relationship Type="http://schemas.openxmlformats.org/officeDocument/2006/relationships/tableStyles" Target="/ppt/tableStyles.xml" Id="Ra050ce639ad34373" /><Relationship Type="http://schemas.openxmlformats.org/officeDocument/2006/relationships/slide" Target="/ppt/slides/slide1.xml" Id="Rbd53828c59d649dc" /><Relationship Type="http://schemas.openxmlformats.org/officeDocument/2006/relationships/slide" Target="/ppt/slides/slide2.xml" Id="Rac0174ca98714b77" /><Relationship Type="http://schemas.openxmlformats.org/officeDocument/2006/relationships/slide" Target="/ppt/slides/slide3.xml" Id="R2f0f4403fc6c4af0" /><Relationship Type="http://schemas.openxmlformats.org/officeDocument/2006/relationships/slide" Target="/ppt/slides/slide4.xml" Id="R954eeb220d284ee4" /><Relationship Type="http://schemas.openxmlformats.org/officeDocument/2006/relationships/slide" Target="/ppt/slides/slide5.xml" Id="R5c4722a57d014886" /><Relationship Type="http://schemas.openxmlformats.org/officeDocument/2006/relationships/slide" Target="/ppt/slides/slide6.xml" Id="Rda232bac4f4c408f" /><Relationship Type="http://schemas.openxmlformats.org/officeDocument/2006/relationships/slide" Target="/ppt/slides/slide7.xml" Id="Re67c3223241148fa" /><Relationship Type="http://schemas.openxmlformats.org/officeDocument/2006/relationships/slide" Target="/ppt/slides/slide8.xml" Id="Ra8f5e35b3b014b3f" /><Relationship Type="http://schemas.openxmlformats.org/officeDocument/2006/relationships/slide" Target="/ppt/slides/slide9.xml" Id="R80c6f6f931bf462c" /><Relationship Type="http://schemas.openxmlformats.org/officeDocument/2006/relationships/slide" Target="/ppt/slides/slide10.xml" Id="R9ee6adb10a36475f" /><Relationship Type="http://schemas.openxmlformats.org/officeDocument/2006/relationships/slide" Target="/ppt/slides/slide11.xml" Id="R069430033a8d4b61" /><Relationship Type="http://schemas.openxmlformats.org/officeDocument/2006/relationships/slide" Target="/ppt/slides/slide12.xml" Id="Rf20047e033bf4baf" /><Relationship Type="http://schemas.openxmlformats.org/officeDocument/2006/relationships/slide" Target="/ppt/slides/slide13.xml" Id="R19e1624723694f9f" /><Relationship Type="http://schemas.openxmlformats.org/officeDocument/2006/relationships/slide" Target="/ppt/slides/slide14.xml" Id="R00263558a00542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ad760b129e43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87647441f04626" /><Relationship Type="http://schemas.openxmlformats.org/officeDocument/2006/relationships/notesMaster" Target="/ppt/notesMasters/notesMaster1.xml" Id="R12a6fee7c49e43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0c9db66a1e4513" /><Relationship Type="http://schemas.openxmlformats.org/officeDocument/2006/relationships/notesMaster" Target="/ppt/notesMasters/notesMaster1.xml" Id="Rc83f8a883d0e45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766e2b512a4c07" /><Relationship Type="http://schemas.openxmlformats.org/officeDocument/2006/relationships/notesMaster" Target="/ppt/notesMasters/notesMaster1.xml" Id="R73a9f9a3370d4f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e78f8c99da4cae" /><Relationship Type="http://schemas.openxmlformats.org/officeDocument/2006/relationships/notesMaster" Target="/ppt/notesMasters/notesMaster1.xml" Id="R42d24e659f8744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41e86522f34cac" /><Relationship Type="http://schemas.openxmlformats.org/officeDocument/2006/relationships/notesMaster" Target="/ppt/notesMasters/notesMaster1.xml" Id="R80cd6c34d97549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b5dcc70e7041ec" /><Relationship Type="http://schemas.openxmlformats.org/officeDocument/2006/relationships/notesMaster" Target="/ppt/notesMasters/notesMaster1.xml" Id="Re1572fa64b3746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93002c4683430a" /><Relationship Type="http://schemas.openxmlformats.org/officeDocument/2006/relationships/notesMaster" Target="/ppt/notesMasters/notesMaster1.xml" Id="R2804a7ebcdb14e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daa7a0d9f64187" /><Relationship Type="http://schemas.openxmlformats.org/officeDocument/2006/relationships/notesMaster" Target="/ppt/notesMasters/notesMaster1.xml" Id="Rbd885ad6b33b4f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511a0cf3d0443a" /><Relationship Type="http://schemas.openxmlformats.org/officeDocument/2006/relationships/notesMaster" Target="/ppt/notesMasters/notesMaster1.xml" Id="R0a508da37ca54b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1285d01a8d4887" /><Relationship Type="http://schemas.openxmlformats.org/officeDocument/2006/relationships/notesMaster" Target="/ppt/notesMasters/notesMaster1.xml" Id="R7b72869805664f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8cb520634a45c1" /><Relationship Type="http://schemas.openxmlformats.org/officeDocument/2006/relationships/notesMaster" Target="/ppt/notesMasters/notesMaster1.xml" Id="R66b041dc9a6d4c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e56a380a6f431a" /><Relationship Type="http://schemas.openxmlformats.org/officeDocument/2006/relationships/notesMaster" Target="/ppt/notesMasters/notesMaster1.xml" Id="R3cb7006059ff42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e0b8476265455f" /><Relationship Type="http://schemas.openxmlformats.org/officeDocument/2006/relationships/notesMaster" Target="/ppt/notesMasters/notesMaster1.xml" Id="Ra18d38676cfe48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3468645f9946cc" /><Relationship Type="http://schemas.openxmlformats.org/officeDocument/2006/relationships/notesMaster" Target="/ppt/notesMasters/notesMaster1.xml" Id="Rcd2b70f13ff34a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defining the work as a controlled academic integration, not a flight or procurement proposal.</a:t>
            </a:r>
          </a:p>
          <a:p xmlns:a="http://schemas.openxmlformats.org/drawingml/2006/main">
            <a:r>
              <a:t>The diagram is conceptual and not to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Engineering Design Document V1.0-RC3</a:t>
            </a:r>
          </a:p>
          <a:p xmlns:a="http://schemas.openxmlformats.org/drawingml/2006/main">
            <a:r>
              <a:t>- Q-Orbit Master Integration and Consistency Audit V1.0-RC3</a:t>
            </a:r>
          </a:p>
          <a:p xmlns:a="http://schemas.openxmlformats.org/drawingml/2006/main">
            <a:r>
              <a:t>- FIG-001 Q-Orbit Mission Context V0.3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the scientific question from any implementation claim.</a:t>
            </a:r>
          </a:p>
          <a:p xmlns:a="http://schemas.openxmlformats.org/drawingml/2006/main">
            <a:r>
              <a:t>The study asks whether the software model is reproducible and locally robust within declared ranges.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Engineering Design Document V1.0-RC3, Sections 1–2</a:t>
            </a:r>
          </a:p>
          <a:p xmlns:a="http://schemas.openxmlformats.org/drawingml/2006/main">
            <a:r>
              <a:t>- Q-Orbit Master Integration and Consistency Audit V1.0-RC3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drawing to explain functions and trust boundaries only.</a:t>
            </a:r>
          </a:p>
          <a:p xmlns:a="http://schemas.openxmlformats.org/drawingml/2006/main">
            <a:r>
              <a:t>No component in this schematic is selected, serialized, purchased, installed, or accepted.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DWG-001 Q-Orbit Ground Station Functional Schematic V0.1</a:t>
            </a:r>
          </a:p>
          <a:p xmlns:a="http://schemas.openxmlformats.org/drawingml/2006/main">
            <a:r>
              <a:t>- Q-Orbit Engineering Design Document V1.0-RC3, Chapter 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declared inputs, optical/channel transformations, detection statistics, finite-key processing, then evidence-gated release.</a:t>
            </a:r>
          </a:p>
          <a:p xmlns:a="http://schemas.openxmlformats.org/drawingml/2006/main">
            <a:r>
              <a:t>A numerical output is not automatically acceptable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DWG-002 Q-Orbit Optical QKD Evidence Chain V0.1</a:t>
            </a:r>
          </a:p>
          <a:p xmlns:a="http://schemas.openxmlformats.org/drawingml/2006/main">
            <a:r>
              <a:t>- Q-Orbit Engineering Design Document V1.0-RC3, Chapters 5 and 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full signed value once, then the controlled floored convention.</a:t>
            </a:r>
          </a:p>
          <a:p xmlns:a="http://schemas.openxmlformats.org/drawingml/2006/main">
            <a:r>
              <a:t>Do not convert candidate bits into delivered key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V0.16-TA1 baseline result</a:t>
            </a:r>
          </a:p>
          <a:p xmlns:a="http://schemas.openxmlformats.org/drawingml/2006/main">
            <a:r>
              <a:t>- Q-Orbit Engineering Design Document V1.0-RC3, Section 8.2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 is deliberately presented as a robustness screen, not a probability distribution.</a:t>
            </a:r>
          </a:p>
          <a:p xmlns:a="http://schemas.openxmlformats.org/drawingml/2006/main">
            <a:r>
              <a:t>The most influential factors in that controlled screen were receive aperture, beam divergence, background counts, atmosphere, and coupling efficiency.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Mission-Case Evidence Build V0.7</a:t>
            </a:r>
          </a:p>
          <a:p xmlns:a="http://schemas.openxmlformats.org/drawingml/2006/main">
            <a:r>
              <a:t>- Q-Orbit Engineering Design Document V1.0-RC3, Section 8.3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41 × 41 coupled screen is deterministic and locally bounded.</a:t>
            </a:r>
          </a:p>
          <a:p xmlns:a="http://schemas.openxmlformats.org/drawingml/2006/main">
            <a:r>
              <a:t>The 33.789411% positive fraction is a grid fraction, not a mission availability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V0.16-TA1 coupled deterministic screen</a:t>
            </a:r>
          </a:p>
          <a:p xmlns:a="http://schemas.openxmlformats.org/drawingml/2006/main">
            <a:r>
              <a:t>- Q-Orbit Engineering Design Document V1.0-RC3, Section 8.3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prevent category errors.</a:t>
            </a:r>
          </a:p>
          <a:p xmlns:a="http://schemas.openxmlformats.org/drawingml/2006/main">
            <a:r>
              <a:t>A reproducible mathematical fixture is valuable but narrower than a robust model, and far narrower than an operational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Master Integration and Consistency Audit V1.0-RC3</a:t>
            </a:r>
          </a:p>
          <a:p xmlns:a="http://schemas.openxmlformats.org/drawingml/2006/main">
            <a:r>
              <a:t>- Q-Orbit Engineering Design Document V1.0-RC3, acceptance-state tables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checks reduce software and integration uncertainty.</a:t>
            </a:r>
          </a:p>
          <a:p xmlns:a="http://schemas.openxmlformats.org/drawingml/2006/main">
            <a:r>
              <a:t>Their scope remains numerical and non-emitting; do not generalize them to hardware or mission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V0.13 Numerical Cross-Check</a:t>
            </a:r>
          </a:p>
          <a:p xmlns:a="http://schemas.openxmlformats.org/drawingml/2006/main">
            <a:r>
              <a:t>- Q-Orbit V0.14 Non-Emitting Rehearsal</a:t>
            </a:r>
          </a:p>
          <a:p xmlns:a="http://schemas.openxmlformats.org/drawingml/2006/main">
            <a:r>
              <a:t>- Q-Orbit V0.16-TA1 Validation Record</a:t>
            </a:r>
          </a:p>
          <a:p xmlns:a="http://schemas.openxmlformats.org/drawingml/2006/main">
            <a:r>
              <a:t>- Q-Orbit Master Integration and Consistency Audit V1.0-RC3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scientific-security obligations, not shopping items.</a:t>
            </a:r>
          </a:p>
          <a:p xmlns:a="http://schemas.openxmlformats.org/drawingml/2006/main">
            <a:r>
              <a:t>The correct theoretical next step is a reviewed proof/device-assumption profile; physical evidence is only needed if a later hardware program is authorized.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Engineering Design Document V1.0-RC3, Sections 7.2 and 8.5</a:t>
            </a:r>
          </a:p>
          <a:p xmlns:a="http://schemas.openxmlformats.org/drawingml/2006/main">
            <a:r>
              <a:t>- Q-Orbit Master Integration and Consistency Audit V1.0-RC3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control logic defaults to inhibition, quarantine, zero release, and private status.</a:t>
            </a:r>
          </a:p>
          <a:p xmlns:a="http://schemas.openxmlformats.org/drawingml/2006/main">
            <a:r>
              <a:t>This is a conceptual control architecture; it has not been validated on integrated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DWG-003 Q-Orbit Fail-Closed Key State Control V0.1</a:t>
            </a:r>
          </a:p>
          <a:p xmlns:a="http://schemas.openxmlformats.org/drawingml/2006/main">
            <a:r>
              <a:t>- Q-Orbit Engineering Design Document V1.0-RC3, Chapters 5 and 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Reaffirm the earlier decision to keep the project theoretical for submission.</a:t>
            </a:r>
          </a:p>
          <a:p xmlns:a="http://schemas.openxmlformats.org/drawingml/2006/main">
            <a:r>
              <a:t>Any parcel, field survey, procurement, GACA/SANS coordination, or outdoor emission belongs to a later separately authorized program.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Engineering Design Document V1.0-RC3, Section 8.6</a:t>
            </a:r>
          </a:p>
          <a:p xmlns:a="http://schemas.openxmlformats.org/drawingml/2006/main">
            <a:r>
              <a:t>- Q-Orbit Tabuk Ground Station and Laser Requirements V0.10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acceptance state exactly; do not paraphrase BLOCKED or NOT-EXECUTED as partial readiness.</a:t>
            </a:r>
          </a:p>
          <a:p xmlns:a="http://schemas.openxmlformats.org/drawingml/2006/main">
            <a:r>
              <a:t>The package passes only for its declared private theoretical academic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Master Integration and Consistency Audit V1.0-RC3, Sections 5 and 9</a:t>
            </a:r>
          </a:p>
          <a:p xmlns:a="http://schemas.openxmlformats.org/drawingml/2006/main">
            <a:r>
              <a:t>- Q-Orbit Engineering Design Document V1.0-RC3, acceptance-state table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bounded achievement: the work is coherent and auditable for a theoretical academic submission.</a:t>
            </a:r>
          </a:p>
          <a:p xmlns:a="http://schemas.openxmlformats.org/drawingml/2006/main">
            <a:r>
              <a:t>The next immediate work is presentation rehearsal and final file integrity—not hardware, fieldwork, or public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Submission Manifest V1.0-RC3</a:t>
            </a:r>
          </a:p>
          <a:p xmlns:a="http://schemas.openxmlformats.org/drawingml/2006/main">
            <a:r>
              <a:t>- Q-Orbit Master Integration and Consistency Audit V1.0-RC3</a:t>
            </a:r>
          </a:p>
          <a:p xmlns:a="http://schemas.openxmlformats.org/drawingml/2006/main">
            <a:r>
              <a:t>- Q-Orbit Engineering Design Document V1.0-RC3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ec84652b746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8bd71a3dae4230" /><Relationship Type="http://schemas.openxmlformats.org/officeDocument/2006/relationships/slideLayout" Target="/ppt/slideLayouts/slideLayout1.xml" Id="R8f480b44053640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480b44053640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af180bf044a90" /><Relationship Type="http://schemas.openxmlformats.org/officeDocument/2006/relationships/image" Target="/ppt/media/image.png" Id="R8ce6c6c9a49b465d" /><Relationship Type="http://schemas.openxmlformats.org/officeDocument/2006/relationships/notesSlide" Target="/ppt/notesSlides/notesSlide1.xml" Id="Rb7371c9c13b149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90c80aafe4183" /><Relationship Type="http://schemas.openxmlformats.org/officeDocument/2006/relationships/notesSlide" Target="/ppt/notesSlides/notesSlide2.xml" Id="Re3be094653634d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accd160994d31" /><Relationship Type="http://schemas.openxmlformats.org/officeDocument/2006/relationships/image" Target="/ppt/media/image2.png" Id="Rc8fb94e0e4bb4c6c" /><Relationship Type="http://schemas.openxmlformats.org/officeDocument/2006/relationships/notesSlide" Target="/ppt/notesSlides/notesSlide3.xml" Id="R2028515e89d146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2db68f2ca476a" /><Relationship Type="http://schemas.openxmlformats.org/officeDocument/2006/relationships/image" Target="/ppt/media/image3.png" Id="Rf503b1a02e7348fa" /><Relationship Type="http://schemas.openxmlformats.org/officeDocument/2006/relationships/notesSlide" Target="/ppt/notesSlides/notesSlide4.xml" Id="R27969142467749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81daed3e34a63" /><Relationship Type="http://schemas.openxmlformats.org/officeDocument/2006/relationships/notesSlide" Target="/ppt/notesSlides/notesSlide5.xml" Id="Rce9bf40a2f2b4d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431dc93dd4120" /><Relationship Type="http://schemas.openxmlformats.org/officeDocument/2006/relationships/notesSlide" Target="/ppt/notesSlides/notesSlide6.xml" Id="Rf7b20219ab1046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69b1af98a44ec" /><Relationship Type="http://schemas.openxmlformats.org/officeDocument/2006/relationships/chart" Target="/ppt/slides/charts/chart1.xml" Id="R784af5de11bd4d93" /><Relationship Type="http://schemas.openxmlformats.org/officeDocument/2006/relationships/notesSlide" Target="/ppt/notesSlides/notesSlide7.xml" Id="R5bf0b28c829546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89e626baf44bc" /><Relationship Type="http://schemas.openxmlformats.org/officeDocument/2006/relationships/notesSlide" Target="/ppt/notesSlides/notesSlide8.xml" Id="R0a2e9294eb3445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9fdfdf82c4965" /><Relationship Type="http://schemas.openxmlformats.org/officeDocument/2006/relationships/notesSlide" Target="/ppt/notesSlides/notesSlide9.xml" Id="R71f7c0695e494e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96409a3b54daf" /><Relationship Type="http://schemas.openxmlformats.org/officeDocument/2006/relationships/notesSlide" Target="/ppt/notesSlides/notesSlide10.xml" Id="R60a26377837a4e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c2bdc21eb456e" /><Relationship Type="http://schemas.openxmlformats.org/officeDocument/2006/relationships/image" Target="/ppt/media/image4.png" Id="Rd1d0dfa80b2c4bd6" /><Relationship Type="http://schemas.openxmlformats.org/officeDocument/2006/relationships/notesSlide" Target="/ppt/notesSlides/notesSlide11.xml" Id="R8cc975d4ab0348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7fc0503bb47df" /><Relationship Type="http://schemas.openxmlformats.org/officeDocument/2006/relationships/notesSlide" Target="/ppt/notesSlides/notesSlide12.xml" Id="Rb752bc9fc9a142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0f5c254544ec1" /><Relationship Type="http://schemas.openxmlformats.org/officeDocument/2006/relationships/notesSlide" Target="/ppt/notesSlides/notesSlide13.xml" Id="R7e1666b88fff48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5a50ecce94d0b" /><Relationship Type="http://schemas.openxmlformats.org/officeDocument/2006/relationships/notesSlide" Target="/ppt/notesSlides/notesSlide14.xml" Id="R85e0c14ead2a40c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Grid points</c:v>
          </c:tx>
          <c:spPr>
            <a:solidFill xmlns:a="http://schemas.openxmlformats.org/drawingml/2006/main">
              <a:srgbClr val="48D8E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58D6A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7A86"/>
              </a:solidFill>
            </c:spPr>
          </c:dPt>
          <c:cat>
            <c:strLit>
              <c:ptCount val="2"/>
              <c:pt idx="0">
                <c:v>Positive</c:v>
              </c:pt>
              <c:pt idx="1">
                <c:v>Nonpositive</c:v>
              </c:pt>
            </c:strLit>
          </c:cat>
          <c:val>
            <c:numLit>
              <c:formatCode>General</c:formatCode>
              <c:ptCount val="2"/>
              <c:pt idx="0">
                <c:v>568</c:v>
              </c:pt>
              <c:pt idx="1">
                <c:v>1113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1425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F5F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1425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1425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DB3C2"/>
                </a:solidFill>
              </a:defRPr>
            </a:pPr>
          </a:p>
        </c:txPr>
        <c:crossAx val="48650112"/>
        <c:crossBetween val="between"/>
        <c:majorUnit val="300"/>
      </c:valAx>
      <c:spPr>
        <a:noFill xmlns:a="http://schemas.openxmlformats.org/drawingml/2006/main"/>
        <a:ln xmlns:a="http://schemas.openxmlformats.org/drawingml/2006/main" w="0">
          <a:solidFill>
            <a:srgbClr val="102B3C"/>
          </a:solidFill>
          <a:prstDash val="solid"/>
        </a:ln>
      </c:spPr>
    </c:plotArea>
    <c:plotVisOnly val="1"/>
  </c:chart>
  <c:spPr>
    <a:solidFill xmlns:a="http://schemas.openxmlformats.org/drawingml/2006/main">
      <a:srgbClr val="102B3C"/>
    </a:solidFill>
    <a:ln xmlns:a="http://schemas.openxmlformats.org/drawingml/2006/main" w="0">
      <a:solidFill>
        <a:srgbClr val="102B3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FD8E0-7C96-42FC-8457-6F76BCDD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98608-99D1-4B12-9145-33D6913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609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48D8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AE95A-091E-4C08-9523-AA7EC351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V1.0-RC3 · SUBMISSION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24D4C-DE33-4915-97C3-256C3938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Q-Orbit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CC326-949B-497D-A9DF-BBE4516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542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Evidence-gated satellite QKD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9F729-7E27-4492-85F8-DF4DEF5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A reproducible theoretical baseline with explicit proof, device, site, hardware, and release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11E49-8AF4-4E63-913C-DAD33873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50863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166A5-57DA-4AE8-B67F-08B89C5F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Controlled disposition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E0956-3B8A-4251-ADA8-540F03B7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PRIVATE THEORETICAL INTEGRATION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B3573-2388-4FAE-97D1-104635EE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"/>
            <a:ext cx="5257800" cy="542925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6c6c9a49b465d"/>
          <a:stretch xmlns:a="http://schemas.openxmlformats.org/drawingml/2006/main"/>
        </p:blipFill>
        <p:spPr>
          <a:xfrm xmlns:a="http://schemas.openxmlformats.org/drawingml/2006/main">
            <a:off x="6400800" y="1793081"/>
            <a:ext cx="5105400" cy="2871788"/>
          </a:xfrm>
          <a:prstGeom xmlns:a="http://schemas.openxmlformats.org/drawingml/2006/main" prst="roundRect">
            <a:avLst>
              <a:gd name="adj" fmla="val 261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89D34-209D-45BC-87D0-41FA00C1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26 AUG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BAD24-CEF7-42E1-B216-1AC119B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170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C3166-AE1B-42E4-B803-3D763350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68BEB-4A4D-428D-A0FC-B701B1C4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01 · FRAMING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2791E-E2F4-441F-ADCA-2026219F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does the study actually test?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F7708-C80B-471E-BD75-AEB3FED0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4AC0C-968F-45A2-8AAB-391CBEE2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C954F-29A0-4B0A-AB1E-1C73C81B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2578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8AD87-E895-40E2-8F27-E0C186B9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059D3-1270-4F46-9A03-0E6DCF78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4648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1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 a declared satellite-to-ground QKD model reproduce a controlled finite-key result—and how quickly does that result lose positivity under bounded theoretical stresses?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B04EC-280A-400B-9D56-2BAA5F29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The answer is about model behavior and evidence discipline, not delivered secret keys.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05EAF-8ED1-4EC6-BE32-F94CD16A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24000"/>
            <a:ext cx="560070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2232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8C13B-DAF7-4D73-8AFE-5043EC12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58D6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01650-D863-4C12-A94D-AB4BB3BC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02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IN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982D7-02A0-4544-BC6F-D6A1B6B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0275"/>
            <a:ext cx="4876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Finite-key reproduction</a:t>
            </a:r>
          </a:p>
          <a:p xmlns:a="http://schemas.openxmlformats.org/drawingml/2006/main">
            <a:pPr algn="l">
              <a:def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Deterministic perturbation screens</a:t>
            </a:r>
          </a:p>
          <a:p xmlns:a="http://schemas.openxmlformats.org/drawingml/2006/main">
            <a:pPr algn="l">
              <a:def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Independent numerical checks</a:t>
            </a:r>
          </a:p>
          <a:p xmlns:a="http://schemas.openxmlformats.org/drawingml/2006/main">
            <a:pPr algn="l">
              <a:def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Fail-closed release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D39C7-E941-4848-A434-6B45C26D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38550"/>
            <a:ext cx="5600700" cy="19812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0D2232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9B08F-8A5C-40BF-989F-C233A263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671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D153F-401B-4E83-B7BB-BECA2668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1477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OUT OF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B30AA-33ED-4DFD-9ED2-0134AD6B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33875"/>
            <a:ext cx="4876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Hardware acceptance · outdoor emission</a:t>
            </a:r>
          </a:p>
          <a:p xmlns:a="http://schemas.openxmlformats.org/drawingml/2006/main">
            <a:pPr algn="l">
              <a:def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Qualified Tabuk parcel · operational key release</a:t>
            </a:r>
          </a:p>
          <a:p xmlns:a="http://schemas.openxmlformats.org/drawingml/2006/main">
            <a:pPr algn="l">
              <a:def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Mission performance · public deployment</a:t>
            </a:r>
          </a:p>
        </p:txBody>
      </p:sp>
    </p:spTree>
    <p:extLst>
      <p:ext uri="{BB962C8B-B14F-4D97-AF65-F5344CB8AC3E}">
        <p14:creationId xmlns:p14="http://schemas.microsoft.com/office/powerpoint/2010/main" val="613532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4FA80-0394-48B3-9619-B8DC402A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05452-1B29-4E4C-9254-2EC1CFF0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02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D035D-6C43-43BA-8424-2BEA8B80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Ground-station functional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5C2F7-FB2F-48CC-AD37-DC47572C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E2446-9D35-4D18-A7D8-624B45B3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81879-C33C-4796-AB1F-91AF9810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12520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b94e0e4bb4c6c"/>
          <a:stretch xmlns:a="http://schemas.openxmlformats.org/drawingml/2006/main"/>
        </p:blipFill>
        <p:spPr>
          <a:xfrm xmlns:a="http://schemas.openxmlformats.org/drawingml/2006/main">
            <a:off x="2507343" y="1457325"/>
            <a:ext cx="7024914" cy="4610100"/>
          </a:xfrm>
          <a:prstGeom xmlns:a="http://schemas.openxmlformats.org/drawingml/2006/main" prst="roundRect">
            <a:avLst>
              <a:gd name="adj" fmla="val 289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6C1A2-9D5C-45FB-BDA6-38EE72CE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DWG-001 · CONCEPTUAL / PRELIMINARY / NTS · no fabrication, procurement, construction, or operating authority</a:t>
            </a:r>
          </a:p>
        </p:txBody>
      </p:sp>
    </p:spTree>
    <p:extLst>
      <p:ext uri="{BB962C8B-B14F-4D97-AF65-F5344CB8AC3E}">
        <p14:creationId xmlns:p14="http://schemas.microsoft.com/office/powerpoint/2010/main" val="843893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F4F03-366A-45D4-90E4-13C8B6ED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BC4C4-D978-4E25-8995-6BDFA6DB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03 ·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8C528-D237-4FF2-A57E-592BD519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Optical QKD signal and evidence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E393-4F7F-47C1-A8CC-59BFDBC4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38F8E-6152-40B2-808B-880E04F6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47BAB-CE9B-4320-A8C6-8EFBFE66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12520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3b1a02e7348fa"/>
          <a:stretch xmlns:a="http://schemas.openxmlformats.org/drawingml/2006/main"/>
        </p:blipFill>
        <p:spPr>
          <a:xfrm xmlns:a="http://schemas.openxmlformats.org/drawingml/2006/main">
            <a:off x="2507343" y="1457325"/>
            <a:ext cx="7024914" cy="4610100"/>
          </a:xfrm>
          <a:prstGeom xmlns:a="http://schemas.openxmlformats.org/drawingml/2006/main" prst="roundRect">
            <a:avLst>
              <a:gd name="adj" fmla="val 289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E0270-7F76-41C9-AD17-EF2EF914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DWG-002 · every modeled transition requires a traceable input, transform, output, and acceptance state</a:t>
            </a:r>
          </a:p>
        </p:txBody>
      </p:sp>
    </p:spTree>
    <p:extLst>
      <p:ext uri="{BB962C8B-B14F-4D97-AF65-F5344CB8AC3E}">
        <p14:creationId xmlns:p14="http://schemas.microsoft.com/office/powerpoint/2010/main" val="916372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44E2F-D6DF-4B00-914D-496705B1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C0EBA-93D8-400D-8970-D4F9DBD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04 · CONTROLLED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0FFA2-07CD-468C-A848-C2D83816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Frozen fixture: exact reproduction succeeded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C90EE-A321-48E3-842C-8B2E47BA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B8351-9F8C-4B95-9D13-B8C0A3CD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52BBD-6DBC-4122-9449-A84C20A0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The V0.16-TA1 implementation exactly reproduces the controlled V0.6 fixture under its declared profile.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6F4C5-66D6-463A-91F5-2F5F536C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34290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9DE35-A1E5-4725-90D9-43052373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102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C9220-FEE5-4087-937B-CBB005FE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half-window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0E7E2-E4B7-4EFE-B356-1F56049E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Controlled temporal convention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1CC00-B0DA-4C27-9B4F-8609DF82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14550"/>
            <a:ext cx="34290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ED4F8-B4F7-4020-826D-E9743A88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41,338.624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67220-4B73-4C60-A73C-263B2DA8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5752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signed margin · bits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AA545-160C-416A-A718-F14F4F2C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Full value: 41,338.62418456675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C55DF-180C-4B26-B347-83ED7BAF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14550"/>
            <a:ext cx="32766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5E85D-BB2C-43A4-9E04-C66D6023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41,338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7BC6B-FC54-4482-819D-F05CB56B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575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floored candidate bits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4DFC8-87DB-420F-8447-8D6F57E0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05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floor(max(M, 0))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DC990-7315-4ED4-8DEA-C909F57D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125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2232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20DD1-35BD-401B-994F-61607D4C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FDB48-E59F-4ACB-88C4-E88F509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577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9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PASS-THEORETICAL means the software reproduces one frozen fixture. It does not establish robustness, physical validity, device security, or mission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22076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3C57E-3660-45F5-9C7B-E6F1CDB9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CC950-BB2F-4341-92E1-5755B150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05 ·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C4B26-07CD-46C6-9467-7190ECA6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V0.7 screen: the nominal result is not robust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30889-53E0-49D0-9503-406A8E0D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A45AB-0BBA-4E9F-BD23-57B288AA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6E375-BFDC-4420-87CD-2BACDC60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A broad 8,192-point theoretical screen changed the governing interpretation from “positive nominal case” to “unstable across the tested ranges.”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56A4E-1953-43D0-900C-C55902C3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4290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02640-C67E-460E-94D6-AE652AFA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3,947 / 8,192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1182-9BA4-4D1C-BE94-79C87EC5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positive samples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B7578-CC33-4B4E-B844-5CD3B227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48.18115234375%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E51C5-5200-438A-B5F9-90EDD89F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34290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A8BE7-2BA3-4696-8BC8-C1A4A3B0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0 bits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B8959-3DD6-4B03-990F-98C7E13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7657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clipped median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FAD2A-F163-4B0C-A045-46569E10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Central result after nonnegative clipping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42E32-B26D-43A5-8820-A72E66B1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32766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F2263-D360-4E48-8092-F8D2BB8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−8,738.764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8B251-8A1E-4781-A7C8-AF77EE21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signed median · bits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052B7-DDAE-45D0-AAC7-5243DDC8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Negative central signed 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62DBB-99EC-4EED-8C5E-ACAEA0A6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125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232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9DE96-C2CD-4189-A670-D3787D35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Scientific consequence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9E908-AB03-4B66-95BA-027B5532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3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screen falsifies any claim that the positive nominal pass is representative across the declared multi-parameter domain.</a:t>
            </a:r>
          </a:p>
        </p:txBody>
      </p:sp>
    </p:spTree>
    <p:extLst>
      <p:ext uri="{BB962C8B-B14F-4D97-AF65-F5344CB8AC3E}">
        <p14:creationId xmlns:p14="http://schemas.microsoft.com/office/powerpoint/2010/main" val="792474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A545B-8702-42A2-B7CD-952F3A9B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847A7-C7DE-4DF8-846B-7D6CCA8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05 ·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0A19F-3FCF-4E77-9B4E-EA0251EE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V0.16-TA1: coupled deterministic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653DE-90F8-4EA1-90AE-9ADDAD6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D7796-DE33-4E25-90CA-590721FA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A1C09-009E-4BAF-A65E-ACC54EA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685800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81050" y="1857375"/>
          <a:ext xmlns:a="http://schemas.openxmlformats.org/drawingml/2006/main" cx="62103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4af5de11bd4d9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B0531-144E-4C66-ABD6-B8AE3C43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48D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2E09A-0858-4F93-9B73-94B63C75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1,681 GRID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CE0A2-70C2-42F5-ACE6-EC398FA4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90650"/>
            <a:ext cx="39624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8C4E5-9564-43A3-BD87-C768F71F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33.789411%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B2DF5-FF88-4E66-A722-5EFF9117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33625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positive fraction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1E679-E04C-45E4-9CE5-6305AC5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568 positive / 1,113 nonpositive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FDAA5-7FE0-46AC-816E-D6BD0DF9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3962400" cy="2409825"/>
          </a:xfrm>
          <a:prstGeom xmlns:a="http://schemas.openxmlformats.org/drawingml/2006/main" prst="roundRect">
            <a:avLst>
              <a:gd name="adj" fmla="val 7115"/>
            </a:avLst>
          </a:prstGeom>
          <a:solidFill xmlns:a="http://schemas.openxmlformats.org/drawingml/2006/main">
            <a:srgbClr val="0D2232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381DA-9E81-466B-B541-EA0B1077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57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Median signed margin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68958-A16E-4AD7-9AA5-7DDC2C47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00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−2,624.947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E990B-CE12-42AA-845B-8661A043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95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Range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A7B63-D3C1-422B-B5CB-E410325F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10175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−3,828.415 to 142,540.748 bits</a:t>
            </a:r>
          </a:p>
        </p:txBody>
      </p:sp>
    </p:spTree>
    <p:extLst>
      <p:ext uri="{BB962C8B-B14F-4D97-AF65-F5344CB8AC3E}">
        <p14:creationId xmlns:p14="http://schemas.microsoft.com/office/powerpoint/2010/main" val="1210406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E86DF-6303-488A-ADE4-A23F9A12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3A561-7587-47F5-8207-C8B1036C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06 ·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81C2E-FCD7-4314-B7B5-B4536ADE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Reproducible is not the same as robust—or operational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F977F-E4FC-4330-9705-81FF6DFD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C8705-CD70-47A9-A7EF-380B0D4D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8B6DF-179F-40B3-B8CB-4A2038B7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314700" cy="39052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58D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21F0A-786E-42EE-A39C-E6733ACD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REPRODUCIBLE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430CD-4A85-49FE-B612-EC6DFC0D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1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PASS-THEORETICAL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38D55-2BCF-4295-91D7-267DF90F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Exact fixture behavior is recovered under controlled software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B49D0-D19A-4FF6-BC5A-F3860E47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One exact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E8DE4-90BF-4129-9569-3B3A4ECE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19250"/>
            <a:ext cx="3314700" cy="39052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F1ACC-FF1C-4D96-931E-F9DE6835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B59AD-2B8F-4B73-A52A-EC3E2950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71725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 ESTABLISHED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7D001-5F1B-4DBB-9F94-47C6982B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Both declared perturbation screens have nonpositive central outcomes.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92DC1-8155-4D0C-9A20-65181448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Across tested ranges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02D4E-C8A6-4248-928B-A85096A0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14700" cy="39052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3F76C-0EB7-4AB9-B356-E7898A1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859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649F9-219D-4D5E-B852-43FAF34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71725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BLOCKED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84982-9577-432B-941F-B3C4A36E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Proof/device, physical, site, HIL, authority, key, and release gates remain open.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2D296-FA90-43D8-9239-BBD1C921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530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Real system and authority</a:t>
            </a:r>
          </a:p>
        </p:txBody>
      </p:sp>
    </p:spTree>
    <p:extLst>
      <p:ext uri="{BB962C8B-B14F-4D97-AF65-F5344CB8AC3E}">
        <p14:creationId xmlns:p14="http://schemas.microsoft.com/office/powerpoint/2010/main" val="376355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1CE5D-2058-4233-979B-5876D85E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86BB9-1C29-4C65-83E7-8550EB7A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07 ·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84071-3284-4765-95EA-D5AA8E4D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Independent checks agree within the declared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C5463-165E-4050-9FC1-FD240C68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87D47-C0AF-4E8F-8CD2-A98C7B2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584C7-9059-46A1-94B8-74F9BB4E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1E856-8A58-4726-8559-608B9B31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50 / 971 /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56281-80F4-4838-A636-5B7BBF96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6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independent numerical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D6555-3841-4926-8330-60322607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vectors / metrics / open discrepancies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BA5C7-880E-4EF9-A4E8-3B2DDCA8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4290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10293-5577-4AD5-AB72-3AA5B861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15 /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1DEFE-A18A-4F56-ACC4-898AE01B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6222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non-emitting rehearsal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ED38D-9953-429E-B136-A094504E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99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98 events · 128 / 128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A814B-460D-434A-AE76-1CF239FE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32766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A5F8A-A6EA-4EE7-A406-278B1E41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12 / 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1508D-866E-49C6-AEAE-2ED436A2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622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V0.16 regression suite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D044D-7580-4762-B40C-61880186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20 / 20 independent package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234B4-678B-4EB0-9973-C163FEDD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11252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D2232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5AF14-C92C-4067-9A54-4BA3CCBE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What these checks 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9713A-1BE8-4717-9703-1722A291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Internal consistency, exact numerical reproduction, and fail-closed software behavior in dry-run scope.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DD3D4-0EF7-433F-83ED-A5E59A0E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What they do not 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E3C6A-FC30-45C7-A916-CB654231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Source/detector qualification, hardware integration, optical safety, site suitability, or key secrecy in operation.</a:t>
            </a:r>
          </a:p>
        </p:txBody>
      </p:sp>
    </p:spTree>
    <p:extLst>
      <p:ext uri="{BB962C8B-B14F-4D97-AF65-F5344CB8AC3E}">
        <p14:creationId xmlns:p14="http://schemas.microsoft.com/office/powerpoint/2010/main" val="1532293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0FCD1B-A566-4042-BD50-F3BF817E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8696F-58E1-4982-BB80-3B213170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08 · OPEN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1A05C-B9A2-4C98-BEB5-AC929DBB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Seven proof-to-device obligations still block acceptance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02921-228B-4C91-9F20-8E527A79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4AA5B-E2D9-4BBD-A17C-D554EA88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9828E-8644-4BCA-83BC-D886D034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No single “device penalty” or QBER threshold may substitute for explicit security-model closure.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97B69-4356-43FF-8014-B8C7EC7E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3721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90C3C-762D-4559-A274-9445F31F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7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D0F73-F7CE-4E01-9502-50A67428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3381C-85E2-429F-B5EC-8B3E4C64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Phase randomization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42297-9106-4594-BE9A-3F84208D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53721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2BE2D-5375-4760-884E-DE56164B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9D547-1C02-4450-81C7-201B010A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DE450-ED90-4DF6-8D38-BC3BA382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Pulse independence and intensity correlations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AA551-90D8-4E97-97F4-7A2BF06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53721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132A0-B4D6-4486-AD73-7C0A7868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7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D8EAE-BECC-4501-9B3E-64D1460D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909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3D2EA-3495-4174-8C4A-74EAA5B3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State-preparation flaws and source leakage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E2F08-8173-445F-B926-789F17DD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38675"/>
            <a:ext cx="53721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4056B-6C21-453E-B925-CB422D36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47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2391B-096B-4029-A1DA-58284BCE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A1336-1784-49EA-A57C-8D240800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7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Detector dead time, recovery, saturation, jitter, and event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1074A-D917-4634-B28B-82F02348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53721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C4A5B-155E-4E06-9F85-7A710221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47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FFEAF-14F1-49B8-AA3B-C25F7AD6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02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8B47E-CEC4-428F-8D24-B0D8EE5B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Detector efficiency mismatch across channel, time, wavelength, or polarization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1A56CA-AF3D-47CD-96D3-5DD1A6A3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47975"/>
            <a:ext cx="53721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1D609-07D3-4617-AAC1-5625285D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7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6F516C-72A8-4C4F-A7F4-93A0F244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95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8F7CB8-DB3D-42FA-9769-EC38D90E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0990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Device-characterization confidence and parameter 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80E85C-3A2A-4C38-A927-D85B9ACB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43325"/>
            <a:ext cx="53721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90563E-7ED4-4A98-AEF3-1518A38E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476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B564F-80A3-4EBD-A59A-732CA43F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2987A8-7E5A-4193-A2E0-89F7DF9D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Memory across protocol instances and device aging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903582-1396-40DC-A67C-8AC9AB5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0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979036-130F-45F5-BC3C-2D360242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PROOF-TO-DEVICE: BLOCKED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7882B5-211E-4405-A9EE-7E5D47A8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48275"/>
            <a:ext cx="527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Required next theoretical gate: select and review a proof/device-assumption profile with zero unmapped security-relevant effects.</a:t>
            </a:r>
          </a:p>
        </p:txBody>
      </p:sp>
    </p:spTree>
    <p:extLst>
      <p:ext uri="{BB962C8B-B14F-4D97-AF65-F5344CB8AC3E}">
        <p14:creationId xmlns:p14="http://schemas.microsoft.com/office/powerpoint/2010/main" val="242303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F4B8E-4119-436B-AD63-BECFBF0F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0B861-F6E9-487B-B3DA-BCFA6358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09 ·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6BAC8-4DA8-40C8-88DC-A9D72D2E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Fail-closed key state and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49197-017F-40E1-883D-5A3FBAC0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606BB-0D2F-425F-9357-5AA47913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DFDC0-5A92-4C50-85B2-0659A342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81050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0dfa80b2c4bd6"/>
          <a:stretch xmlns:a="http://schemas.openxmlformats.org/drawingml/2006/main"/>
        </p:blipFill>
        <p:spPr>
          <a:xfrm xmlns:a="http://schemas.openxmlformats.org/drawingml/2006/main">
            <a:off x="849993" y="1457325"/>
            <a:ext cx="7024914" cy="4610100"/>
          </a:xfrm>
          <a:prstGeom xmlns:a="http://schemas.openxmlformats.org/drawingml/2006/main" prst="roundRect">
            <a:avLst>
              <a:gd name="adj" fmla="val 289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33050-EFD9-4E82-A8BC-E1D6DF6F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09900" cy="4762500"/>
          </a:xfrm>
          <a:prstGeom xmlns:a="http://schemas.openxmlformats.org/drawingml/2006/main" prst="roundRect">
            <a:avLst>
              <a:gd name="adj" fmla="val 5696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1FCFF-B3BA-4550-9788-CA2E6F20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85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Terminal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186EE-842C-499F-8EE9-DD11FD9F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2190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978A2-4974-43A3-A076-F5A0A1F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38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LASER · INHIBITED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82F86-6BB9-4D2B-8FF9-59B20D1A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2190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14B08-65CA-4352-A03E-BA3F9991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336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KEY · QUARANTINED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8572D-9F6F-4D4B-82FC-5D33269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190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7EBBA-2076-4B3C-B58F-C8D180AA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RELEASE · ZERO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565F3-485D-4EC7-8326-628BC5A7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76650"/>
            <a:ext cx="2190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6EB35-93F8-459E-853E-A7E40C99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242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PUBLIC · BLOCKED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95C21-496F-439F-94C4-972607E2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910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Default-deny behavior is part of the evidence model: an absent authority or failed gate cannot silently become permission.</a:t>
            </a:r>
          </a:p>
        </p:txBody>
      </p:sp>
    </p:spTree>
    <p:extLst>
      <p:ext uri="{BB962C8B-B14F-4D97-AF65-F5344CB8AC3E}">
        <p14:creationId xmlns:p14="http://schemas.microsoft.com/office/powerpoint/2010/main" val="16423345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A9666-D905-45EF-8B44-72609015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0D5DA-08F4-4E69-BC7C-6625827A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10 · SITE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2338A-63F4-44E8-BEA4-7F289C45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Tabuk is a study region—not a qualified 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9B40E-D40E-4190-9492-5A64CF04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FCF5E-FB76-4689-9C89-ABDB8F66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AB443-EB24-4DB2-A6DC-8C6FDAD8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7048500" cy="3962400"/>
          </a:xfrm>
          <a:prstGeom xmlns:a="http://schemas.openxmlformats.org/drawingml/2006/main" prst="roundRect">
            <a:avLst>
              <a:gd name="adj" fmla="val 432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B20B0-2E79-4564-AB4C-CD43207B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Current controlled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FEBA0-71E8-4AD6-88AD-F7F64126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Tabuk is retained only as the theoretical study region. No coordinate is a real parcel, no local atmospheric or horizon survey has been run, and no equipment or laser case has been authorized.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3E7E5-F90C-441B-ADE6-BADC3789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The academic submission does not require hardware procurement.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C4E86-52E0-49C5-8F16-901EF314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3771900" cy="3962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D2232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36505-432F-43A6-91FF-B7265B84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954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Region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A483B-101E-4A07-8D72-4CD00817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TABUK · STUDY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48C9C-32D0-44D2-8986-2E290CAE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764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1F491-101B-45B2-8574-5ED23382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431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Parcel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38BFA-DD11-4C2C-96AF-E47B2C55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NONE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90494-EF5F-4E37-94B7-1796B2A0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241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D75FD-CCA2-44C2-A592-6FB730B2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Local survey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9CEA0-F845-4CCC-AA67-0D301A75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81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NOT-RUN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DBD6E-AA7E-48DE-AFB8-DE9609D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49131-7045-4C28-926A-A3D666BB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385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Hardware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31786-B1AA-4356-94EC-E75BE4E8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29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DEFERRED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081BEB-DDFE-41CB-94AB-182CDAEE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95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1AF22-66B8-4139-B907-2F231430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862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Laser authority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316CFA-3A1B-4D23-A905-BE7CF583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76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NONE / INHIBITED</a:t>
            </a:r>
          </a:p>
        </p:txBody>
      </p:sp>
    </p:spTree>
    <p:extLst>
      <p:ext uri="{BB962C8B-B14F-4D97-AF65-F5344CB8AC3E}">
        <p14:creationId xmlns:p14="http://schemas.microsoft.com/office/powerpoint/2010/main" val="3600102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F9B2FC-A58E-448F-B27C-A9E98529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B88BC-FA6C-4F33-9318-B6891BDA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11 · ACCEPTANCE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79F7E-673A-4F22-BCE5-C2659138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Current evidence and release disposition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D8A62-08B7-4B47-A5BC-6084651B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7C462-1E5D-4586-866A-DCB29E57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76567-7916-4C47-8C1B-98B9867D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5372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C1FAE-2767-4098-9814-7231111E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Frozen numerical 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FFB27-52B4-44A0-B22A-2BC6DA28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85925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58D6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9ED9A-AD5F-40BC-BA4D-CBEFD66B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35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PASS-THEORETICAL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F6DB8-67BD-4205-8EC2-0BF0E1DE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372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EBFA9-DD7D-482D-959C-6037795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Independent numerical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BBA14-8E93-46D6-8DC0-F02FF4E9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24125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58D6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1CBAF-4929-4032-A0A7-AC179B6B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717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PASS-NUMERICAL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E6BC8-7AB3-4DAA-9288-C88DE6A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5372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99DF6-94E6-4BD3-B6E0-A209C85D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Proof-to-device completeness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CA30D-850B-4BEB-A61C-B9D468FB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62325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B64F7-4CBC-462C-8804-F2B2BDB9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099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BLOCKED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4316E-A1DE-410B-B53D-5F81728D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5372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82D03-F392-45C0-8C49-E708D459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Physical characterization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DD9A2-EEC9-414A-B06D-2CCC643F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00525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64200-8D53-4851-A362-1E8CCF2C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481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NOT-EXECUTED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E9B8F-1B4A-4469-A813-F9F3225E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372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5CE09-3088-4FC9-94A3-91524E0B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Hardware-in-the-loop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F134A-EDE1-42A9-8B37-DE38FC36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38725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82BEC-B64A-4C53-A2FF-E7F75F30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863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BLOCKED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0F98F9-CAAE-4CE2-AE1A-1624DF1F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04950"/>
            <a:ext cx="5372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BA373-99E5-44E7-9A99-A9D7FB57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383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Tabuk site and mission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7EBCC-08EA-4128-96DD-9119A246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85925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0D831-3FC0-4B1A-B87E-ECB43D03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NOT-RUN / NONE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07D842-D7C6-4027-AABA-263BE146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5372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6A723D-1264-4CEB-92FB-C3F8AEA8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Laser operation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DC3356-CE83-4995-BB73-ACCF1062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24125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B03869-D6EC-4BC1-93CB-E3147556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INHIBITED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DC8BD2-327D-4D93-A821-B915F3FC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5372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95CEEF-16F4-4141-81BF-6E7C220C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Operational key 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079403-BB5C-4915-9AFA-6C68FFF2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62325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A4AB50-6916-4206-8234-CC36ADD6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099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ZERO-RELEASED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C86446-24CB-4C8B-9542-CEF769A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5372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F87A24-84FF-457A-83C9-FC3D6DD4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Public release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94C470-00CD-41DC-B245-A36E7D1D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00525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EA6FD2-636B-4DEA-9C04-9F0AFCD3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481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PRIVATE-BLOCKED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17DC47-4CE7-4E18-A683-BC6549E1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537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D2232"/>
          </a:solidFill>
          <a:ln xmlns:a="http://schemas.openxmlformats.org/drawingml/2006/main" w="9525">
            <a:solidFill>
              <a:srgbClr val="58D6A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293B51-7934-4124-9474-5CDF4768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244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Audit disposition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BD1490-7537-4615-A185-CD989178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8162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8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PASS · PRIVATE THEORETICAL INTEGRATION ONLY</a:t>
            </a:r>
          </a:p>
        </p:txBody>
      </p:sp>
    </p:spTree>
    <p:extLst>
      <p:ext uri="{BB962C8B-B14F-4D97-AF65-F5344CB8AC3E}">
        <p14:creationId xmlns:p14="http://schemas.microsoft.com/office/powerpoint/2010/main" val="20902139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E4459-783D-4C4F-A041-3E03115D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8E8"/>
          </a:solidFill>
          <a:ln xmlns:a="http://schemas.openxmlformats.org/drawingml/2006/main" w="0">
            <a:solidFill>
              <a:srgbClr val="48D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65FF8-8207-4DC8-8715-F7DA3876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12 ·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EA8D8-2A96-4943-A1F0-5CB3044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Defensible theoretical submission—no wider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9AEB7-61BD-4991-831C-3EF4498B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Q-ORBIT · PRIVATE PRELIMINARY · THEORETICAL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81BB5-1BE1-4936-99AC-263164AA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DB3C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AE687-653F-48FD-AA62-A30F55E1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B3C"/>
          </a:solidFill>
          <a:ln xmlns:a="http://schemas.openxmlformats.org/drawingml/2006/main" w="9525">
            <a:solidFill>
              <a:srgbClr val="48D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575A1-F37F-4D65-9FB5-B23B3CC4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What is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80334-7B76-4076-8587-60B55F8A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6343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Controlled report, paper, engineering document, audit, and private website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Three controlled conceptual engineering drawings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Exact numerical fixture and bounded robustness screens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Independent checks and fail-closed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6E45F-433E-4CF3-ADDF-B196BC6E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Final scientific statement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0FC6E-68C0-4514-A291-2FB19A49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0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model is reproducible, but the modeled positive output is not robust across the declared screens.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D93D3-32E1-49CA-AF49-9081C83B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581400" cy="400050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0D2232"/>
          </a:solidFill>
          <a:ln xmlns:a="http://schemas.openxmlformats.org/drawingml/2006/main" w="9525">
            <a:solidFill>
              <a:srgbClr val="2142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F138E-D535-46FC-AD85-2E8A9FDC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38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8D8E8"/>
                </a:solidFill>
                <a:latin typeface="Helvetica Neue"/>
                <a:ea typeface="Helvetica Neue"/>
                <a:cs typeface="Helvetica Neue"/>
              </a:rPr>
              <a:t>Next before submission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213D5-326D-4DFF-A07F-E421B5CF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5267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1. Final editorial proof</a:t>
            </a:r>
          </a:p>
          <a:p xmlns:a="http://schemas.openxmlformats.org/drawingml/2006/main">
            <a:pPr algn="l">
              <a:defRPr sz="165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2. Rehearse this briefing</a:t>
            </a:r>
          </a:p>
          <a:p xmlns:a="http://schemas.openxmlformats.org/drawingml/2006/main">
            <a:pPr algn="l">
              <a:defRPr sz="165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3. Verify all files open</a:t>
            </a:r>
          </a:p>
          <a:p xmlns:a="http://schemas.openxmlformats.org/drawingml/2006/main">
            <a:pPr algn="l">
              <a:defRPr sz="165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AF5FB"/>
                </a:solidFill>
                <a:latin typeface="Helvetica Neue"/>
                <a:ea typeface="Helvetica Neue"/>
                <a:cs typeface="Helvetica Neue"/>
              </a:rPr>
              <a:t>4. Preserve the private archive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9B06E-9602-4347-A34D-D3E5E7E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33875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58D6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19ED5-69BC-4D2B-A831-403F5E67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8D6A5"/>
                </a:solidFill>
                <a:latin typeface="Helvetica Neue"/>
                <a:ea typeface="Helvetica Neue"/>
                <a:cs typeface="Helvetica Neue"/>
              </a:rPr>
              <a:t>NO PURCHASE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DD13D-0CB9-49C8-8EC8-C902A9C6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33875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4CD36-C77D-4AD7-8238-AA43CC28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815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NO PUBLISH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F1F2F-DD9C-4BF8-85C3-7C80B374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29175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F7A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486DB-BD3A-4DCE-A9D3-55FF4C3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768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7A86"/>
                </a:solidFill>
                <a:latin typeface="Helvetica Neue"/>
                <a:ea typeface="Helvetica Neue"/>
                <a:cs typeface="Helvetica Neue"/>
              </a:rPr>
              <a:t>NO EMISSION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4293C-76EC-433C-B261-BC6FAD38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29175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638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5D99B-4FD2-40ED-B2A2-87F6ABCA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768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THEORY ONLY</a:t>
            </a:r>
          </a:p>
        </p:txBody>
      </p:sp>
    </p:spTree>
    <p:extLst>
      <p:ext uri="{BB962C8B-B14F-4D97-AF65-F5344CB8AC3E}">
        <p14:creationId xmlns:p14="http://schemas.microsoft.com/office/powerpoint/2010/main" val="886321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2026-08-26T14:57:43.1480000Z</dcterms:created>
  <dcterms:modified xsi:type="dcterms:W3CDTF">2026-08-26T14:57:43.1490000Z</dcterms:modified>
</coreProperties>
</file>